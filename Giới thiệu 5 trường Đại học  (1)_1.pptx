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Alegreya Sans" charset="1" panose="00000500000000000000"/>
      <p:regular r:id="rId12"/>
    </p:embeddedFont>
    <p:embeddedFont>
      <p:font typeface="Alegreya Sans Bold" charset="1" panose="000008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https://www.canva.com/design/DAHGRjq3rIY/a6rFkRwBj2QeM7XAWT4iHw/edit" TargetMode="External" Type="http://schemas.openxmlformats.org/officeDocument/2006/relationships/hyperlink"/><Relationship Id="rId13" Target="../media/image11.jpeg" Type="http://schemas.openxmlformats.org/officeDocument/2006/relationships/image"/><Relationship Id="rId14" Target="https://www.canva.com/design/DAHGRjq3rIY/a6rFkRwBj2QeM7XAWT4iHw/edit" TargetMode="External" Type="http://schemas.openxmlformats.org/officeDocument/2006/relationships/hyperlink"/><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jpeg" Type="http://schemas.openxmlformats.org/officeDocument/2006/relationships/image"/><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6.png" Type="http://schemas.openxmlformats.org/officeDocument/2006/relationships/image"/><Relationship Id="rId9" Target="../media/image1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7.png" Type="http://schemas.openxmlformats.org/officeDocument/2006/relationships/image"/><Relationship Id="rId4" Target="../media/image20.jpeg" Type="http://schemas.openxmlformats.org/officeDocument/2006/relationships/image"/><Relationship Id="rId5" Target="../media/image21.png" Type="http://schemas.openxmlformats.org/officeDocument/2006/relationships/image"/><Relationship Id="rId6" Target="../media/image5.png" Type="http://schemas.openxmlformats.org/officeDocument/2006/relationships/image"/><Relationship Id="rId7"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2.png" Type="http://schemas.openxmlformats.org/officeDocument/2006/relationships/image"/><Relationship Id="rId4" Target="../media/image6.png" Type="http://schemas.openxmlformats.org/officeDocument/2006/relationships/image"/><Relationship Id="rId5" Target="../media/image23.png" Type="http://schemas.openxmlformats.org/officeDocument/2006/relationships/image"/><Relationship Id="rId6" Target="../media/image24.jpeg" Type="http://schemas.openxmlformats.org/officeDocument/2006/relationships/image"/><Relationship Id="rId7" Target="../media/image25.png" Type="http://schemas.openxmlformats.org/officeDocument/2006/relationships/image"/><Relationship Id="rId8"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22.png" Type="http://schemas.openxmlformats.org/officeDocument/2006/relationships/image"/><Relationship Id="rId2" Target="../media/image12.png" Type="http://schemas.openxmlformats.org/officeDocument/2006/relationships/image"/><Relationship Id="rId3" Target="../media/image26.png" Type="http://schemas.openxmlformats.org/officeDocument/2006/relationships/image"/><Relationship Id="rId4" Target="../media/image21.png" Type="http://schemas.openxmlformats.org/officeDocument/2006/relationships/image"/><Relationship Id="rId5" Target="../media/image2.png" Type="http://schemas.openxmlformats.org/officeDocument/2006/relationships/image"/><Relationship Id="rId6" Target="../media/image27.jpeg" Type="http://schemas.openxmlformats.org/officeDocument/2006/relationships/image"/><Relationship Id="rId7" Target="../media/image14.png" Type="http://schemas.openxmlformats.org/officeDocument/2006/relationships/image"/><Relationship Id="rId8" Target="../media/image10.png" Type="http://schemas.openxmlformats.org/officeDocument/2006/relationships/image"/><Relationship Id="rId9"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12.png" Type="http://schemas.openxmlformats.org/officeDocument/2006/relationships/image"/><Relationship Id="rId3" Target="../media/image28.jpeg" Type="http://schemas.openxmlformats.org/officeDocument/2006/relationships/image"/><Relationship Id="rId4" Target="../media/image4.png" Type="http://schemas.openxmlformats.org/officeDocument/2006/relationships/image"/><Relationship Id="rId5" Target="../media/image15.png" Type="http://schemas.openxmlformats.org/officeDocument/2006/relationships/image"/><Relationship Id="rId6" Target="../media/image29.jpeg" Type="http://schemas.openxmlformats.org/officeDocument/2006/relationships/image"/><Relationship Id="rId7" Target="../media/image7.png" Type="http://schemas.openxmlformats.org/officeDocument/2006/relationships/image"/><Relationship Id="rId8" Target="../media/image6.png" Type="http://schemas.openxmlformats.org/officeDocument/2006/relationships/image"/><Relationship Id="rId9"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4C8C0"/>
        </a:solidFill>
      </p:bgPr>
    </p:bg>
    <p:spTree>
      <p:nvGrpSpPr>
        <p:cNvPr id="1" name=""/>
        <p:cNvGrpSpPr/>
        <p:nvPr/>
      </p:nvGrpSpPr>
      <p:grpSpPr>
        <a:xfrm>
          <a:off x="0" y="0"/>
          <a:ext cx="0" cy="0"/>
          <a:chOff x="0" y="0"/>
          <a:chExt cx="0" cy="0"/>
        </a:xfrm>
      </p:grpSpPr>
      <p:sp>
        <p:nvSpPr>
          <p:cNvPr name="Freeform 2" id="2"/>
          <p:cNvSpPr/>
          <p:nvPr/>
        </p:nvSpPr>
        <p:spPr>
          <a:xfrm flipH="false" flipV="false" rot="-5941755">
            <a:off x="3156549" y="-3298347"/>
            <a:ext cx="11974901" cy="16883693"/>
          </a:xfrm>
          <a:custGeom>
            <a:avLst/>
            <a:gdLst/>
            <a:ahLst/>
            <a:cxnLst/>
            <a:rect r="r" b="b" t="t" l="l"/>
            <a:pathLst>
              <a:path h="16883693" w="11974901">
                <a:moveTo>
                  <a:pt x="0" y="0"/>
                </a:moveTo>
                <a:lnTo>
                  <a:pt x="11974902" y="0"/>
                </a:lnTo>
                <a:lnTo>
                  <a:pt x="11974902" y="16883694"/>
                </a:lnTo>
                <a:lnTo>
                  <a:pt x="0" y="16883694"/>
                </a:lnTo>
                <a:lnTo>
                  <a:pt x="0" y="0"/>
                </a:lnTo>
                <a:close/>
              </a:path>
            </a:pathLst>
          </a:custGeom>
          <a:blipFill>
            <a:blip r:embed="rId2"/>
            <a:stretch>
              <a:fillRect l="0" t="0" r="0" b="-71"/>
            </a:stretch>
          </a:blipFill>
        </p:spPr>
      </p:sp>
      <p:sp>
        <p:nvSpPr>
          <p:cNvPr name="Freeform 3" id="3"/>
          <p:cNvSpPr/>
          <p:nvPr/>
        </p:nvSpPr>
        <p:spPr>
          <a:xfrm flipH="false" flipV="false" rot="2700000">
            <a:off x="13536103" y="2551973"/>
            <a:ext cx="3715895" cy="4033536"/>
          </a:xfrm>
          <a:custGeom>
            <a:avLst/>
            <a:gdLst/>
            <a:ahLst/>
            <a:cxnLst/>
            <a:rect r="r" b="b" t="t" l="l"/>
            <a:pathLst>
              <a:path h="4033536" w="3715895">
                <a:moveTo>
                  <a:pt x="0" y="0"/>
                </a:moveTo>
                <a:lnTo>
                  <a:pt x="3715896" y="0"/>
                </a:lnTo>
                <a:lnTo>
                  <a:pt x="3715896" y="4033536"/>
                </a:lnTo>
                <a:lnTo>
                  <a:pt x="0" y="4033536"/>
                </a:lnTo>
                <a:lnTo>
                  <a:pt x="0" y="0"/>
                </a:lnTo>
                <a:close/>
              </a:path>
            </a:pathLst>
          </a:custGeom>
          <a:blipFill>
            <a:blip r:embed="rId3"/>
            <a:stretch>
              <a:fillRect l="0" t="0" r="0" b="0"/>
            </a:stretch>
          </a:blipFill>
        </p:spPr>
      </p:sp>
      <p:grpSp>
        <p:nvGrpSpPr>
          <p:cNvPr name="Group 4" id="4"/>
          <p:cNvGrpSpPr>
            <a:grpSpLocks noChangeAspect="true"/>
          </p:cNvGrpSpPr>
          <p:nvPr/>
        </p:nvGrpSpPr>
        <p:grpSpPr>
          <a:xfrm rot="-172228">
            <a:off x="9463597" y="4761819"/>
            <a:ext cx="6961357" cy="5527947"/>
            <a:chOff x="0" y="0"/>
            <a:chExt cx="13754100" cy="10922000"/>
          </a:xfrm>
        </p:grpSpPr>
        <p:sp>
          <p:nvSpPr>
            <p:cNvPr name="Freeform 5" id="5"/>
            <p:cNvSpPr/>
            <p:nvPr/>
          </p:nvSpPr>
          <p:spPr>
            <a:xfrm flipH="false" flipV="false" rot="0">
              <a:off x="673100" y="977900"/>
              <a:ext cx="12344400" cy="7772400"/>
            </a:xfrm>
            <a:custGeom>
              <a:avLst/>
              <a:gdLst/>
              <a:ahLst/>
              <a:cxnLst/>
              <a:rect r="r" b="b" t="t" l="l"/>
              <a:pathLst>
                <a:path h="7772400" w="12344400">
                  <a:moveTo>
                    <a:pt x="0" y="0"/>
                  </a:moveTo>
                  <a:lnTo>
                    <a:pt x="12344400" y="0"/>
                  </a:lnTo>
                  <a:lnTo>
                    <a:pt x="12344400" y="7772400"/>
                  </a:lnTo>
                  <a:lnTo>
                    <a:pt x="0" y="7772400"/>
                  </a:lnTo>
                  <a:close/>
                </a:path>
              </a:pathLst>
            </a:custGeom>
            <a:blipFill>
              <a:blip r:embed="rId4"/>
              <a:stretch>
                <a:fillRect l="0" t="-9558" r="0" b="-9558"/>
              </a:stretch>
            </a:blipFill>
          </p:spPr>
        </p:sp>
        <p:sp>
          <p:nvSpPr>
            <p:cNvPr name="Freeform 6" id="6"/>
            <p:cNvSpPr/>
            <p:nvPr/>
          </p:nvSpPr>
          <p:spPr>
            <a:xfrm flipH="false" flipV="false" rot="0">
              <a:off x="0" y="0"/>
              <a:ext cx="13754100" cy="10922000"/>
            </a:xfrm>
            <a:custGeom>
              <a:avLst/>
              <a:gdLst/>
              <a:ahLst/>
              <a:cxnLst/>
              <a:rect r="r" b="b" t="t" l="l"/>
              <a:pathLst>
                <a:path h="10922000" w="13754100">
                  <a:moveTo>
                    <a:pt x="0" y="0"/>
                  </a:moveTo>
                  <a:lnTo>
                    <a:pt x="13754100" y="0"/>
                  </a:lnTo>
                  <a:lnTo>
                    <a:pt x="13754100" y="10922000"/>
                  </a:lnTo>
                  <a:lnTo>
                    <a:pt x="0" y="10922000"/>
                  </a:lnTo>
                  <a:close/>
                </a:path>
              </a:pathLst>
            </a:custGeom>
            <a:blipFill>
              <a:blip r:embed="rId5"/>
              <a:stretch>
                <a:fillRect l="-179" t="0" r="-179" b="0"/>
              </a:stretch>
            </a:blipFill>
          </p:spPr>
        </p:sp>
      </p:grpSp>
      <p:sp>
        <p:nvSpPr>
          <p:cNvPr name="Freeform 7" id="7"/>
          <p:cNvSpPr/>
          <p:nvPr/>
        </p:nvSpPr>
        <p:spPr>
          <a:xfrm flipH="false" flipV="false" rot="-3155805">
            <a:off x="9170687" y="4224082"/>
            <a:ext cx="2396630" cy="3920867"/>
          </a:xfrm>
          <a:custGeom>
            <a:avLst/>
            <a:gdLst/>
            <a:ahLst/>
            <a:cxnLst/>
            <a:rect r="r" b="b" t="t" l="l"/>
            <a:pathLst>
              <a:path h="3920867" w="2396630">
                <a:moveTo>
                  <a:pt x="0" y="0"/>
                </a:moveTo>
                <a:lnTo>
                  <a:pt x="2396630" y="0"/>
                </a:lnTo>
                <a:lnTo>
                  <a:pt x="2396630" y="3920867"/>
                </a:lnTo>
                <a:lnTo>
                  <a:pt x="0" y="3920867"/>
                </a:lnTo>
                <a:lnTo>
                  <a:pt x="0" y="0"/>
                </a:lnTo>
                <a:close/>
              </a:path>
            </a:pathLst>
          </a:custGeom>
          <a:blipFill>
            <a:blip r:embed="rId6"/>
            <a:stretch>
              <a:fillRect l="0" t="0" r="0" b="0"/>
            </a:stretch>
          </a:blipFill>
        </p:spPr>
      </p:sp>
      <p:sp>
        <p:nvSpPr>
          <p:cNvPr name="Freeform 8" id="8"/>
          <p:cNvSpPr/>
          <p:nvPr/>
        </p:nvSpPr>
        <p:spPr>
          <a:xfrm flipH="false" flipV="false" rot="0">
            <a:off x="8259784" y="839465"/>
            <a:ext cx="739861" cy="739861"/>
          </a:xfrm>
          <a:custGeom>
            <a:avLst/>
            <a:gdLst/>
            <a:ahLst/>
            <a:cxnLst/>
            <a:rect r="r" b="b" t="t" l="l"/>
            <a:pathLst>
              <a:path h="739861" w="739861">
                <a:moveTo>
                  <a:pt x="0" y="0"/>
                </a:moveTo>
                <a:lnTo>
                  <a:pt x="739861" y="0"/>
                </a:lnTo>
                <a:lnTo>
                  <a:pt x="739861" y="739860"/>
                </a:lnTo>
                <a:lnTo>
                  <a:pt x="0" y="739860"/>
                </a:lnTo>
                <a:lnTo>
                  <a:pt x="0" y="0"/>
                </a:lnTo>
                <a:close/>
              </a:path>
            </a:pathLst>
          </a:custGeom>
          <a:blipFill>
            <a:blip r:embed="rId7"/>
            <a:stretch>
              <a:fillRect l="0" t="0" r="0" b="0"/>
            </a:stretch>
          </a:blipFill>
        </p:spPr>
      </p:sp>
      <p:sp>
        <p:nvSpPr>
          <p:cNvPr name="Freeform 9" id="9"/>
          <p:cNvSpPr/>
          <p:nvPr/>
        </p:nvSpPr>
        <p:spPr>
          <a:xfrm flipH="false" flipV="false" rot="503882">
            <a:off x="-830090" y="8716270"/>
            <a:ext cx="7933554" cy="2856079"/>
          </a:xfrm>
          <a:custGeom>
            <a:avLst/>
            <a:gdLst/>
            <a:ahLst/>
            <a:cxnLst/>
            <a:rect r="r" b="b" t="t" l="l"/>
            <a:pathLst>
              <a:path h="2856079" w="7933554">
                <a:moveTo>
                  <a:pt x="0" y="0"/>
                </a:moveTo>
                <a:lnTo>
                  <a:pt x="7933554" y="0"/>
                </a:lnTo>
                <a:lnTo>
                  <a:pt x="7933554" y="2856079"/>
                </a:lnTo>
                <a:lnTo>
                  <a:pt x="0" y="2856079"/>
                </a:lnTo>
                <a:lnTo>
                  <a:pt x="0" y="0"/>
                </a:lnTo>
                <a:close/>
              </a:path>
            </a:pathLst>
          </a:custGeom>
          <a:blipFill>
            <a:blip r:embed="rId8"/>
            <a:stretch>
              <a:fillRect l="0" t="0" r="0" b="0"/>
            </a:stretch>
          </a:blipFill>
        </p:spPr>
      </p:sp>
      <p:sp>
        <p:nvSpPr>
          <p:cNvPr name="Freeform 10" id="10"/>
          <p:cNvSpPr/>
          <p:nvPr/>
        </p:nvSpPr>
        <p:spPr>
          <a:xfrm flipH="false" flipV="false" rot="1163687">
            <a:off x="14578977" y="667662"/>
            <a:ext cx="3969978" cy="893245"/>
          </a:xfrm>
          <a:custGeom>
            <a:avLst/>
            <a:gdLst/>
            <a:ahLst/>
            <a:cxnLst/>
            <a:rect r="r" b="b" t="t" l="l"/>
            <a:pathLst>
              <a:path h="893245" w="3969978">
                <a:moveTo>
                  <a:pt x="0" y="0"/>
                </a:moveTo>
                <a:lnTo>
                  <a:pt x="3969978" y="0"/>
                </a:lnTo>
                <a:lnTo>
                  <a:pt x="3969978" y="893245"/>
                </a:lnTo>
                <a:lnTo>
                  <a:pt x="0" y="893245"/>
                </a:lnTo>
                <a:lnTo>
                  <a:pt x="0" y="0"/>
                </a:lnTo>
                <a:close/>
              </a:path>
            </a:pathLst>
          </a:custGeom>
          <a:blipFill>
            <a:blip r:embed="rId9"/>
            <a:stretch>
              <a:fillRect l="0" t="0" r="0" b="0"/>
            </a:stretch>
          </a:blipFill>
        </p:spPr>
      </p:sp>
      <p:sp>
        <p:nvSpPr>
          <p:cNvPr name="Freeform 11" id="11"/>
          <p:cNvSpPr/>
          <p:nvPr/>
        </p:nvSpPr>
        <p:spPr>
          <a:xfrm flipH="false" flipV="false" rot="503495">
            <a:off x="1900661" y="8690510"/>
            <a:ext cx="925721" cy="910790"/>
          </a:xfrm>
          <a:custGeom>
            <a:avLst/>
            <a:gdLst/>
            <a:ahLst/>
            <a:cxnLst/>
            <a:rect r="r" b="b" t="t" l="l"/>
            <a:pathLst>
              <a:path h="910790" w="925721">
                <a:moveTo>
                  <a:pt x="0" y="0"/>
                </a:moveTo>
                <a:lnTo>
                  <a:pt x="925721" y="0"/>
                </a:lnTo>
                <a:lnTo>
                  <a:pt x="925721" y="910790"/>
                </a:lnTo>
                <a:lnTo>
                  <a:pt x="0" y="910790"/>
                </a:lnTo>
                <a:lnTo>
                  <a:pt x="0" y="0"/>
                </a:lnTo>
                <a:close/>
              </a:path>
            </a:pathLst>
          </a:custGeom>
          <a:blipFill>
            <a:blip r:embed="rId10"/>
            <a:stretch>
              <a:fillRect l="0" t="0" r="0" b="0"/>
            </a:stretch>
          </a:blipFill>
        </p:spPr>
      </p:sp>
      <p:sp>
        <p:nvSpPr>
          <p:cNvPr name="Freeform 12" id="12"/>
          <p:cNvSpPr/>
          <p:nvPr/>
        </p:nvSpPr>
        <p:spPr>
          <a:xfrm flipH="false" flipV="false" rot="0">
            <a:off x="16943116" y="3626040"/>
            <a:ext cx="820267" cy="831204"/>
          </a:xfrm>
          <a:custGeom>
            <a:avLst/>
            <a:gdLst/>
            <a:ahLst/>
            <a:cxnLst/>
            <a:rect r="r" b="b" t="t" l="l"/>
            <a:pathLst>
              <a:path h="831204" w="820267">
                <a:moveTo>
                  <a:pt x="0" y="0"/>
                </a:moveTo>
                <a:lnTo>
                  <a:pt x="820267" y="0"/>
                </a:lnTo>
                <a:lnTo>
                  <a:pt x="820267" y="831204"/>
                </a:lnTo>
                <a:lnTo>
                  <a:pt x="0" y="831204"/>
                </a:lnTo>
                <a:lnTo>
                  <a:pt x="0" y="0"/>
                </a:lnTo>
                <a:close/>
              </a:path>
            </a:pathLst>
          </a:custGeom>
          <a:blipFill>
            <a:blip r:embed="rId11"/>
            <a:stretch>
              <a:fillRect l="0" t="0" r="0" b="0"/>
            </a:stretch>
          </a:blipFill>
        </p:spPr>
      </p:sp>
      <p:sp>
        <p:nvSpPr>
          <p:cNvPr name="TextBox 13" id="13"/>
          <p:cNvSpPr txBox="true"/>
          <p:nvPr/>
        </p:nvSpPr>
        <p:spPr>
          <a:xfrm rot="0">
            <a:off x="1453239" y="2637455"/>
            <a:ext cx="7417023" cy="3648446"/>
          </a:xfrm>
          <a:prstGeom prst="rect">
            <a:avLst/>
          </a:prstGeom>
        </p:spPr>
        <p:txBody>
          <a:bodyPr anchor="t" rtlCol="false" tIns="0" lIns="0" bIns="0" rIns="0">
            <a:spAutoFit/>
          </a:bodyPr>
          <a:lstStyle/>
          <a:p>
            <a:pPr algn="ctr">
              <a:lnSpc>
                <a:spcPts val="9281"/>
              </a:lnSpc>
            </a:pPr>
            <a:r>
              <a:rPr lang="en-US" sz="7425">
                <a:solidFill>
                  <a:srgbClr val="000000"/>
                </a:solidFill>
                <a:latin typeface="Alegreya Sans"/>
                <a:ea typeface="Alegreya Sans"/>
                <a:cs typeface="Alegreya Sans"/>
                <a:sym typeface="Alegreya Sans"/>
              </a:rPr>
              <a:t>5 trường Đại Học Đào tạo sư phạm tiểu học </a:t>
            </a:r>
          </a:p>
        </p:txBody>
      </p:sp>
      <p:grpSp>
        <p:nvGrpSpPr>
          <p:cNvPr name="Group 14" id="14"/>
          <p:cNvGrpSpPr>
            <a:grpSpLocks noChangeAspect="true"/>
          </p:cNvGrpSpPr>
          <p:nvPr/>
        </p:nvGrpSpPr>
        <p:grpSpPr>
          <a:xfrm rot="-322137">
            <a:off x="9376627" y="138408"/>
            <a:ext cx="6654558" cy="5284321"/>
            <a:chOff x="0" y="0"/>
            <a:chExt cx="13754100" cy="10922000"/>
          </a:xfrm>
        </p:grpSpPr>
        <p:sp>
          <p:nvSpPr>
            <p:cNvPr name="Freeform 15" id="15">
              <a:hlinkClick r:id="rId12" tooltip="https://www.canva.com/design/DAHGRjq3rIY/a6rFkRwBj2QeM7XAWT4iHw/edit"/>
            </p:cNvPr>
            <p:cNvSpPr/>
            <p:nvPr/>
          </p:nvSpPr>
          <p:spPr>
            <a:xfrm flipH="false" flipV="false" rot="0">
              <a:off x="673100" y="977900"/>
              <a:ext cx="12344400" cy="7772400"/>
            </a:xfrm>
            <a:custGeom>
              <a:avLst/>
              <a:gdLst/>
              <a:ahLst/>
              <a:cxnLst/>
              <a:rect r="r" b="b" t="t" l="l"/>
              <a:pathLst>
                <a:path h="7772400" w="12344400">
                  <a:moveTo>
                    <a:pt x="0" y="0"/>
                  </a:moveTo>
                  <a:lnTo>
                    <a:pt x="12344400" y="0"/>
                  </a:lnTo>
                  <a:lnTo>
                    <a:pt x="12344400" y="7772400"/>
                  </a:lnTo>
                  <a:lnTo>
                    <a:pt x="0" y="7772400"/>
                  </a:lnTo>
                  <a:close/>
                </a:path>
              </a:pathLst>
            </a:custGeom>
            <a:blipFill>
              <a:blip r:embed="rId13"/>
              <a:stretch>
                <a:fillRect l="-12494" t="0" r="-12494" b="0"/>
              </a:stretch>
            </a:blipFill>
          </p:spPr>
        </p:sp>
        <p:sp>
          <p:nvSpPr>
            <p:cNvPr name="Freeform 16" id="16">
              <a:hlinkClick r:id="rId14" tooltip="https://www.canva.com/design/DAHGRjq3rIY/a6rFkRwBj2QeM7XAWT4iHw/edit"/>
            </p:cNvPr>
            <p:cNvSpPr/>
            <p:nvPr/>
          </p:nvSpPr>
          <p:spPr>
            <a:xfrm flipH="false" flipV="false" rot="0">
              <a:off x="0" y="0"/>
              <a:ext cx="13754100" cy="10922000"/>
            </a:xfrm>
            <a:custGeom>
              <a:avLst/>
              <a:gdLst/>
              <a:ahLst/>
              <a:cxnLst/>
              <a:rect r="r" b="b" t="t" l="l"/>
              <a:pathLst>
                <a:path h="10922000" w="13754100">
                  <a:moveTo>
                    <a:pt x="0" y="0"/>
                  </a:moveTo>
                  <a:lnTo>
                    <a:pt x="13754100" y="0"/>
                  </a:lnTo>
                  <a:lnTo>
                    <a:pt x="13754100" y="10922000"/>
                  </a:lnTo>
                  <a:lnTo>
                    <a:pt x="0" y="10922000"/>
                  </a:lnTo>
                  <a:close/>
                </a:path>
              </a:pathLst>
            </a:custGeom>
            <a:blipFill>
              <a:blip r:embed="rId5"/>
              <a:stretch>
                <a:fillRect l="-179" t="0" r="-179"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4C8C0"/>
        </a:solidFill>
      </p:bgPr>
    </p:bg>
    <p:spTree>
      <p:nvGrpSpPr>
        <p:cNvPr id="1" name=""/>
        <p:cNvGrpSpPr/>
        <p:nvPr/>
      </p:nvGrpSpPr>
      <p:grpSpPr>
        <a:xfrm>
          <a:off x="0" y="0"/>
          <a:ext cx="0" cy="0"/>
          <a:chOff x="0" y="0"/>
          <a:chExt cx="0" cy="0"/>
        </a:xfrm>
      </p:grpSpPr>
      <p:sp>
        <p:nvSpPr>
          <p:cNvPr name="Freeform 2" id="2"/>
          <p:cNvSpPr/>
          <p:nvPr/>
        </p:nvSpPr>
        <p:spPr>
          <a:xfrm flipH="true" flipV="true" rot="-83252">
            <a:off x="1741611" y="1665594"/>
            <a:ext cx="7133956" cy="9511942"/>
          </a:xfrm>
          <a:custGeom>
            <a:avLst/>
            <a:gdLst/>
            <a:ahLst/>
            <a:cxnLst/>
            <a:rect r="r" b="b" t="t" l="l"/>
            <a:pathLst>
              <a:path h="9511942" w="7133956">
                <a:moveTo>
                  <a:pt x="7133956" y="9511942"/>
                </a:moveTo>
                <a:lnTo>
                  <a:pt x="0" y="9511942"/>
                </a:lnTo>
                <a:lnTo>
                  <a:pt x="0" y="0"/>
                </a:lnTo>
                <a:lnTo>
                  <a:pt x="7133956" y="0"/>
                </a:lnTo>
                <a:lnTo>
                  <a:pt x="7133956" y="9511942"/>
                </a:lnTo>
                <a:close/>
              </a:path>
            </a:pathLst>
          </a:custGeom>
          <a:blipFill>
            <a:blip r:embed="rId2"/>
            <a:stretch>
              <a:fillRect l="0" t="0" r="0" b="0"/>
            </a:stretch>
          </a:blipFill>
        </p:spPr>
      </p:sp>
      <p:sp>
        <p:nvSpPr>
          <p:cNvPr name="Freeform 3" id="3"/>
          <p:cNvSpPr/>
          <p:nvPr/>
        </p:nvSpPr>
        <p:spPr>
          <a:xfrm flipH="false" flipV="false" rot="-716075">
            <a:off x="724297" y="255833"/>
            <a:ext cx="6911975" cy="9775333"/>
          </a:xfrm>
          <a:custGeom>
            <a:avLst/>
            <a:gdLst/>
            <a:ahLst/>
            <a:cxnLst/>
            <a:rect r="r" b="b" t="t" l="l"/>
            <a:pathLst>
              <a:path h="9775333" w="6911975">
                <a:moveTo>
                  <a:pt x="0" y="0"/>
                </a:moveTo>
                <a:lnTo>
                  <a:pt x="6911975" y="0"/>
                </a:lnTo>
                <a:lnTo>
                  <a:pt x="6911975" y="9775334"/>
                </a:lnTo>
                <a:lnTo>
                  <a:pt x="0" y="9775334"/>
                </a:lnTo>
                <a:lnTo>
                  <a:pt x="0" y="0"/>
                </a:lnTo>
                <a:close/>
              </a:path>
            </a:pathLst>
          </a:custGeom>
          <a:blipFill>
            <a:blip r:embed="rId3"/>
            <a:stretch>
              <a:fillRect l="0" t="0" r="0" b="0"/>
            </a:stretch>
          </a:blipFill>
        </p:spPr>
      </p:sp>
      <p:sp>
        <p:nvSpPr>
          <p:cNvPr name="TextBox 4" id="4"/>
          <p:cNvSpPr txBox="true"/>
          <p:nvPr/>
        </p:nvSpPr>
        <p:spPr>
          <a:xfrm rot="0">
            <a:off x="1703141" y="3717820"/>
            <a:ext cx="4954288" cy="2708486"/>
          </a:xfrm>
          <a:prstGeom prst="rect">
            <a:avLst/>
          </a:prstGeom>
        </p:spPr>
        <p:txBody>
          <a:bodyPr anchor="t" rtlCol="false" tIns="0" lIns="0" bIns="0" rIns="0">
            <a:spAutoFit/>
          </a:bodyPr>
          <a:lstStyle/>
          <a:p>
            <a:pPr algn="ctr" marL="0" indent="0" lvl="0">
              <a:lnSpc>
                <a:spcPts val="6843"/>
              </a:lnSpc>
            </a:pPr>
            <a:r>
              <a:rPr lang="en-US" b="true" sz="5475">
                <a:solidFill>
                  <a:srgbClr val="000000"/>
                </a:solidFill>
                <a:latin typeface="Alegreya Sans Bold"/>
                <a:ea typeface="Alegreya Sans Bold"/>
                <a:cs typeface="Alegreya Sans Bold"/>
                <a:sym typeface="Alegreya Sans Bold"/>
              </a:rPr>
              <a:t>TRƯỜNG ĐẠI HỌC SƯ PHẠM HÀ NỘI </a:t>
            </a:r>
          </a:p>
        </p:txBody>
      </p:sp>
      <p:sp>
        <p:nvSpPr>
          <p:cNvPr name="Freeform 5" id="5"/>
          <p:cNvSpPr/>
          <p:nvPr/>
        </p:nvSpPr>
        <p:spPr>
          <a:xfrm flipH="true" flipV="false" rot="-1510912">
            <a:off x="15819145" y="-195948"/>
            <a:ext cx="4937709" cy="11898095"/>
          </a:xfrm>
          <a:custGeom>
            <a:avLst/>
            <a:gdLst/>
            <a:ahLst/>
            <a:cxnLst/>
            <a:rect r="r" b="b" t="t" l="l"/>
            <a:pathLst>
              <a:path h="11898095" w="4937709">
                <a:moveTo>
                  <a:pt x="4937710" y="0"/>
                </a:moveTo>
                <a:lnTo>
                  <a:pt x="0" y="0"/>
                </a:lnTo>
                <a:lnTo>
                  <a:pt x="0" y="11898096"/>
                </a:lnTo>
                <a:lnTo>
                  <a:pt x="4937710" y="11898096"/>
                </a:lnTo>
                <a:lnTo>
                  <a:pt x="4937710" y="0"/>
                </a:lnTo>
                <a:close/>
              </a:path>
            </a:pathLst>
          </a:custGeom>
          <a:blipFill>
            <a:blip r:embed="rId4"/>
            <a:stretch>
              <a:fillRect l="0" t="0" r="0" b="0"/>
            </a:stretch>
          </a:blipFill>
        </p:spPr>
      </p:sp>
      <p:sp>
        <p:nvSpPr>
          <p:cNvPr name="Freeform 6" id="6"/>
          <p:cNvSpPr/>
          <p:nvPr/>
        </p:nvSpPr>
        <p:spPr>
          <a:xfrm flipH="false" flipV="false" rot="1006940">
            <a:off x="542363" y="6731825"/>
            <a:ext cx="3422850" cy="3127629"/>
          </a:xfrm>
          <a:custGeom>
            <a:avLst/>
            <a:gdLst/>
            <a:ahLst/>
            <a:cxnLst/>
            <a:rect r="r" b="b" t="t" l="l"/>
            <a:pathLst>
              <a:path h="3127629" w="3422850">
                <a:moveTo>
                  <a:pt x="0" y="0"/>
                </a:moveTo>
                <a:lnTo>
                  <a:pt x="3422850" y="0"/>
                </a:lnTo>
                <a:lnTo>
                  <a:pt x="3422850" y="3127629"/>
                </a:lnTo>
                <a:lnTo>
                  <a:pt x="0" y="3127629"/>
                </a:lnTo>
                <a:lnTo>
                  <a:pt x="0" y="0"/>
                </a:lnTo>
                <a:close/>
              </a:path>
            </a:pathLst>
          </a:custGeom>
          <a:blipFill>
            <a:blip r:embed="rId5"/>
            <a:stretch>
              <a:fillRect l="0" t="0" r="0" b="0"/>
            </a:stretch>
          </a:blipFill>
        </p:spPr>
      </p:sp>
      <p:sp>
        <p:nvSpPr>
          <p:cNvPr name="Freeform 7" id="7"/>
          <p:cNvSpPr/>
          <p:nvPr/>
        </p:nvSpPr>
        <p:spPr>
          <a:xfrm flipH="false" flipV="false" rot="-2125990">
            <a:off x="5721016" y="665095"/>
            <a:ext cx="1954758" cy="4104478"/>
          </a:xfrm>
          <a:custGeom>
            <a:avLst/>
            <a:gdLst/>
            <a:ahLst/>
            <a:cxnLst/>
            <a:rect r="r" b="b" t="t" l="l"/>
            <a:pathLst>
              <a:path h="4104478" w="1954758">
                <a:moveTo>
                  <a:pt x="0" y="0"/>
                </a:moveTo>
                <a:lnTo>
                  <a:pt x="1954758" y="0"/>
                </a:lnTo>
                <a:lnTo>
                  <a:pt x="1954758" y="4104478"/>
                </a:lnTo>
                <a:lnTo>
                  <a:pt x="0" y="4104478"/>
                </a:lnTo>
                <a:lnTo>
                  <a:pt x="0" y="0"/>
                </a:lnTo>
                <a:close/>
              </a:path>
            </a:pathLst>
          </a:custGeom>
          <a:blipFill>
            <a:blip r:embed="rId6"/>
            <a:stretch>
              <a:fillRect l="0" t="0" r="0" b="0"/>
            </a:stretch>
          </a:blipFill>
        </p:spPr>
      </p:sp>
      <p:sp>
        <p:nvSpPr>
          <p:cNvPr name="Freeform 8" id="8"/>
          <p:cNvSpPr/>
          <p:nvPr/>
        </p:nvSpPr>
        <p:spPr>
          <a:xfrm flipH="false" flipV="false" rot="0">
            <a:off x="6698395" y="818620"/>
            <a:ext cx="732307" cy="761995"/>
          </a:xfrm>
          <a:custGeom>
            <a:avLst/>
            <a:gdLst/>
            <a:ahLst/>
            <a:cxnLst/>
            <a:rect r="r" b="b" t="t" l="l"/>
            <a:pathLst>
              <a:path h="761995" w="732307">
                <a:moveTo>
                  <a:pt x="0" y="0"/>
                </a:moveTo>
                <a:lnTo>
                  <a:pt x="732307" y="0"/>
                </a:lnTo>
                <a:lnTo>
                  <a:pt x="732307" y="761995"/>
                </a:lnTo>
                <a:lnTo>
                  <a:pt x="0" y="761995"/>
                </a:lnTo>
                <a:lnTo>
                  <a:pt x="0" y="0"/>
                </a:lnTo>
                <a:close/>
              </a:path>
            </a:pathLst>
          </a:custGeom>
          <a:blipFill>
            <a:blip r:embed="rId7"/>
            <a:stretch>
              <a:fillRect l="0" t="0" r="0" b="0"/>
            </a:stretch>
          </a:blipFill>
        </p:spPr>
      </p:sp>
      <p:sp>
        <p:nvSpPr>
          <p:cNvPr name="Freeform 9" id="9"/>
          <p:cNvSpPr/>
          <p:nvPr/>
        </p:nvSpPr>
        <p:spPr>
          <a:xfrm flipH="false" flipV="false" rot="0">
            <a:off x="-211744" y="7094383"/>
            <a:ext cx="750936" cy="750936"/>
          </a:xfrm>
          <a:custGeom>
            <a:avLst/>
            <a:gdLst/>
            <a:ahLst/>
            <a:cxnLst/>
            <a:rect r="r" b="b" t="t" l="l"/>
            <a:pathLst>
              <a:path h="750936" w="750936">
                <a:moveTo>
                  <a:pt x="0" y="0"/>
                </a:moveTo>
                <a:lnTo>
                  <a:pt x="750936" y="0"/>
                </a:lnTo>
                <a:lnTo>
                  <a:pt x="750936" y="750936"/>
                </a:lnTo>
                <a:lnTo>
                  <a:pt x="0" y="750936"/>
                </a:lnTo>
                <a:lnTo>
                  <a:pt x="0" y="0"/>
                </a:lnTo>
                <a:close/>
              </a:path>
            </a:pathLst>
          </a:custGeom>
          <a:blipFill>
            <a:blip r:embed="rId8"/>
            <a:stretch>
              <a:fillRect l="0" t="0" r="0" b="0"/>
            </a:stretch>
          </a:blipFill>
        </p:spPr>
      </p:sp>
      <p:sp>
        <p:nvSpPr>
          <p:cNvPr name="Freeform 10" id="10"/>
          <p:cNvSpPr/>
          <p:nvPr/>
        </p:nvSpPr>
        <p:spPr>
          <a:xfrm flipH="false" flipV="false" rot="-1324308">
            <a:off x="9382075" y="8592788"/>
            <a:ext cx="865952" cy="851519"/>
          </a:xfrm>
          <a:custGeom>
            <a:avLst/>
            <a:gdLst/>
            <a:ahLst/>
            <a:cxnLst/>
            <a:rect r="r" b="b" t="t" l="l"/>
            <a:pathLst>
              <a:path h="851519" w="865952">
                <a:moveTo>
                  <a:pt x="0" y="0"/>
                </a:moveTo>
                <a:lnTo>
                  <a:pt x="865951" y="0"/>
                </a:lnTo>
                <a:lnTo>
                  <a:pt x="865951" y="851519"/>
                </a:lnTo>
                <a:lnTo>
                  <a:pt x="0" y="851519"/>
                </a:lnTo>
                <a:lnTo>
                  <a:pt x="0" y="0"/>
                </a:lnTo>
                <a:close/>
              </a:path>
            </a:pathLst>
          </a:custGeom>
          <a:blipFill>
            <a:blip r:embed="rId9"/>
            <a:stretch>
              <a:fillRect l="0" t="0" r="0" b="0"/>
            </a:stretch>
          </a:blipFill>
        </p:spPr>
      </p:sp>
      <p:sp>
        <p:nvSpPr>
          <p:cNvPr name="Freeform 11" id="11"/>
          <p:cNvSpPr/>
          <p:nvPr/>
        </p:nvSpPr>
        <p:spPr>
          <a:xfrm flipH="false" flipV="false" rot="0">
            <a:off x="10642982" y="5411919"/>
            <a:ext cx="6086040" cy="4866799"/>
          </a:xfrm>
          <a:custGeom>
            <a:avLst/>
            <a:gdLst/>
            <a:ahLst/>
            <a:cxnLst/>
            <a:rect r="r" b="b" t="t" l="l"/>
            <a:pathLst>
              <a:path h="4866799" w="6086040">
                <a:moveTo>
                  <a:pt x="0" y="0"/>
                </a:moveTo>
                <a:lnTo>
                  <a:pt x="6086041" y="0"/>
                </a:lnTo>
                <a:lnTo>
                  <a:pt x="6086041" y="4866799"/>
                </a:lnTo>
                <a:lnTo>
                  <a:pt x="0" y="4866799"/>
                </a:lnTo>
                <a:lnTo>
                  <a:pt x="0" y="0"/>
                </a:lnTo>
                <a:close/>
              </a:path>
            </a:pathLst>
          </a:custGeom>
          <a:blipFill>
            <a:blip r:embed="rId10"/>
            <a:stretch>
              <a:fillRect l="0" t="0" r="-6622" b="0"/>
            </a:stretch>
          </a:blipFill>
        </p:spPr>
      </p:sp>
      <p:sp>
        <p:nvSpPr>
          <p:cNvPr name="TextBox 12" id="12"/>
          <p:cNvSpPr txBox="true"/>
          <p:nvPr/>
        </p:nvSpPr>
        <p:spPr>
          <a:xfrm rot="0">
            <a:off x="8610413" y="-72714"/>
            <a:ext cx="7551100" cy="5998568"/>
          </a:xfrm>
          <a:prstGeom prst="rect">
            <a:avLst/>
          </a:prstGeom>
        </p:spPr>
        <p:txBody>
          <a:bodyPr anchor="t" rtlCol="false" tIns="0" lIns="0" bIns="0" rIns="0">
            <a:spAutoFit/>
          </a:bodyPr>
          <a:lstStyle/>
          <a:p>
            <a:pPr algn="l" marL="511968" indent="-255984" lvl="1">
              <a:lnSpc>
                <a:spcPts val="4742"/>
              </a:lnSpc>
              <a:buFont typeface="Arial"/>
              <a:buChar char="•"/>
            </a:pPr>
            <a:r>
              <a:rPr lang="en-US" sz="2371">
                <a:solidFill>
                  <a:srgbClr val="000000"/>
                </a:solidFill>
                <a:latin typeface="Alegreya Sans"/>
                <a:ea typeface="Alegreya Sans"/>
                <a:cs typeface="Alegreya Sans"/>
                <a:sym typeface="Alegreya Sans"/>
              </a:rPr>
              <a:t>Trường Đại học Sư phạm Hà Nội (HNUE) là trường đại học trọng điểm quốc gia, trung tâm đào tạo giáo viên và nghiên cứu khoa học giáo dục hàng đầu Việt Nam. Với lịch sử lâu đời từ năm 1951, trường nổi tiếng với khẩu hiệu "Chuẩn mực - Sáng tạo - Tiên phong", đào tạo đa ngành chất lượng cao tại địa chỉ 136 Xuân Thủy, Cầu Giấy, Hà Nội. </a:t>
            </a:r>
          </a:p>
          <a:p>
            <a:pPr algn="l" marL="511968" indent="-255984" lvl="1">
              <a:lnSpc>
                <a:spcPts val="4742"/>
              </a:lnSpc>
              <a:buFont typeface="Arial"/>
              <a:buChar char="•"/>
            </a:pPr>
            <a:r>
              <a:rPr lang="en-US" sz="2371">
                <a:solidFill>
                  <a:srgbClr val="000000"/>
                </a:solidFill>
                <a:latin typeface="Alegreya Sans"/>
                <a:ea typeface="Alegreya Sans"/>
                <a:cs typeface="Alegreya Sans"/>
                <a:sym typeface="Alegreya Sans"/>
              </a:rPr>
              <a:t>Giáo dục Tiểu học, Giáo dục Mầm non:</a:t>
            </a:r>
          </a:p>
          <a:p>
            <a:pPr algn="l" marL="511968" indent="-255984" lvl="1">
              <a:lnSpc>
                <a:spcPts val="4742"/>
              </a:lnSpc>
              <a:buFont typeface="Arial"/>
              <a:buChar char="•"/>
            </a:pPr>
            <a:r>
              <a:rPr lang="en-US" sz="2371">
                <a:solidFill>
                  <a:srgbClr val="000000"/>
                </a:solidFill>
                <a:latin typeface="Alegreya Sans"/>
                <a:ea typeface="Alegreya Sans"/>
                <a:cs typeface="Alegreya Sans"/>
                <a:sym typeface="Alegreya Sans"/>
              </a:rPr>
              <a:t>Tổ hợp D01, D02, D03, M02.</a:t>
            </a:r>
          </a:p>
          <a:p>
            <a:pPr algn="l" marL="511968" indent="-255984" lvl="1">
              <a:lnSpc>
                <a:spcPts val="4742"/>
              </a:lnSpc>
              <a:buFont typeface="Arial"/>
              <a:buChar char="•"/>
            </a:pPr>
            <a:r>
              <a:rPr lang="en-US" sz="2371">
                <a:solidFill>
                  <a:srgbClr val="000000"/>
                </a:solidFill>
                <a:latin typeface="Alegreya Sans"/>
                <a:ea typeface="Alegreya Sans"/>
                <a:cs typeface="Alegreya Sans"/>
                <a:sym typeface="Alegreya Sans"/>
              </a:rPr>
              <a:t>Giáo dục Tiểu học: 25,17 điểm.</a:t>
            </a:r>
          </a:p>
          <a:p>
            <a:pPr algn="l">
              <a:lnSpc>
                <a:spcPts val="4742"/>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4C8C0"/>
        </a:solidFill>
      </p:bgPr>
    </p:bg>
    <p:spTree>
      <p:nvGrpSpPr>
        <p:cNvPr id="1" name=""/>
        <p:cNvGrpSpPr/>
        <p:nvPr/>
      </p:nvGrpSpPr>
      <p:grpSpPr>
        <a:xfrm>
          <a:off x="0" y="0"/>
          <a:ext cx="0" cy="0"/>
          <a:chOff x="0" y="0"/>
          <a:chExt cx="0" cy="0"/>
        </a:xfrm>
      </p:grpSpPr>
      <p:sp>
        <p:nvSpPr>
          <p:cNvPr name="Freeform 2" id="2"/>
          <p:cNvSpPr/>
          <p:nvPr/>
        </p:nvSpPr>
        <p:spPr>
          <a:xfrm flipH="false" flipV="false" rot="111521">
            <a:off x="7268917" y="-172294"/>
            <a:ext cx="11322402" cy="16060144"/>
          </a:xfrm>
          <a:custGeom>
            <a:avLst/>
            <a:gdLst/>
            <a:ahLst/>
            <a:cxnLst/>
            <a:rect r="r" b="b" t="t" l="l"/>
            <a:pathLst>
              <a:path h="16060144" w="11322402">
                <a:moveTo>
                  <a:pt x="0" y="0"/>
                </a:moveTo>
                <a:lnTo>
                  <a:pt x="11322402" y="0"/>
                </a:lnTo>
                <a:lnTo>
                  <a:pt x="11322402" y="16060144"/>
                </a:lnTo>
                <a:lnTo>
                  <a:pt x="0" y="16060144"/>
                </a:lnTo>
                <a:lnTo>
                  <a:pt x="0" y="0"/>
                </a:lnTo>
                <a:close/>
              </a:path>
            </a:pathLst>
          </a:custGeom>
          <a:blipFill>
            <a:blip r:embed="rId2"/>
            <a:stretch>
              <a:fillRect l="0" t="0" r="0" b="0"/>
            </a:stretch>
          </a:blipFill>
        </p:spPr>
      </p:sp>
      <p:sp>
        <p:nvSpPr>
          <p:cNvPr name="Freeform 3" id="3"/>
          <p:cNvSpPr/>
          <p:nvPr/>
        </p:nvSpPr>
        <p:spPr>
          <a:xfrm flipH="false" flipV="false" rot="3397790">
            <a:off x="-7422153" y="5121995"/>
            <a:ext cx="20446844" cy="7360864"/>
          </a:xfrm>
          <a:custGeom>
            <a:avLst/>
            <a:gdLst/>
            <a:ahLst/>
            <a:cxnLst/>
            <a:rect r="r" b="b" t="t" l="l"/>
            <a:pathLst>
              <a:path h="7360864" w="20446844">
                <a:moveTo>
                  <a:pt x="0" y="0"/>
                </a:moveTo>
                <a:lnTo>
                  <a:pt x="20446844" y="0"/>
                </a:lnTo>
                <a:lnTo>
                  <a:pt x="20446844" y="7360864"/>
                </a:lnTo>
                <a:lnTo>
                  <a:pt x="0" y="7360864"/>
                </a:lnTo>
                <a:lnTo>
                  <a:pt x="0" y="0"/>
                </a:lnTo>
                <a:close/>
              </a:path>
            </a:pathLst>
          </a:custGeom>
          <a:blipFill>
            <a:blip r:embed="rId3"/>
            <a:stretch>
              <a:fillRect l="0" t="0" r="0" b="0"/>
            </a:stretch>
          </a:blipFill>
        </p:spPr>
      </p:sp>
      <p:grpSp>
        <p:nvGrpSpPr>
          <p:cNvPr name="Group 4" id="4"/>
          <p:cNvGrpSpPr>
            <a:grpSpLocks noChangeAspect="true"/>
          </p:cNvGrpSpPr>
          <p:nvPr/>
        </p:nvGrpSpPr>
        <p:grpSpPr>
          <a:xfrm rot="-173168">
            <a:off x="462064" y="1121093"/>
            <a:ext cx="6916353" cy="8720171"/>
            <a:chOff x="0" y="0"/>
            <a:chExt cx="1704340" cy="2148840"/>
          </a:xfrm>
        </p:grpSpPr>
        <p:sp>
          <p:nvSpPr>
            <p:cNvPr name="Freeform 5" id="5"/>
            <p:cNvSpPr/>
            <p:nvPr/>
          </p:nvSpPr>
          <p:spPr>
            <a:xfrm flipH="false" flipV="false" rot="0">
              <a:off x="63500" y="77470"/>
              <a:ext cx="1582420" cy="1645920"/>
            </a:xfrm>
            <a:custGeom>
              <a:avLst/>
              <a:gdLst/>
              <a:ahLst/>
              <a:cxnLst/>
              <a:rect r="r" b="b" t="t" l="l"/>
              <a:pathLst>
                <a:path h="1645920" w="1582420">
                  <a:moveTo>
                    <a:pt x="1582420" y="1645920"/>
                  </a:moveTo>
                  <a:lnTo>
                    <a:pt x="0" y="1645920"/>
                  </a:lnTo>
                  <a:lnTo>
                    <a:pt x="0" y="0"/>
                  </a:lnTo>
                  <a:lnTo>
                    <a:pt x="1582420" y="0"/>
                  </a:lnTo>
                  <a:lnTo>
                    <a:pt x="1582420" y="1645920"/>
                  </a:lnTo>
                  <a:close/>
                </a:path>
              </a:pathLst>
            </a:custGeom>
            <a:blipFill>
              <a:blip r:embed="rId4"/>
              <a:stretch>
                <a:fillRect l="-54012" t="0" r="-54012" b="0"/>
              </a:stretch>
            </a:blipFill>
          </p:spPr>
        </p:sp>
        <p:sp>
          <p:nvSpPr>
            <p:cNvPr name="Freeform 6" id="6"/>
            <p:cNvSpPr/>
            <p:nvPr/>
          </p:nvSpPr>
          <p:spPr>
            <a:xfrm flipH="false" flipV="false" rot="0">
              <a:off x="0" y="0"/>
              <a:ext cx="1704340" cy="2148840"/>
            </a:xfrm>
            <a:custGeom>
              <a:avLst/>
              <a:gdLst/>
              <a:ahLst/>
              <a:cxnLst/>
              <a:rect r="r" b="b" t="t" l="l"/>
              <a:pathLst>
                <a:path h="2148840" w="1704340">
                  <a:moveTo>
                    <a:pt x="1704340" y="2148840"/>
                  </a:moveTo>
                  <a:lnTo>
                    <a:pt x="0" y="2148840"/>
                  </a:lnTo>
                  <a:lnTo>
                    <a:pt x="0" y="0"/>
                  </a:lnTo>
                  <a:lnTo>
                    <a:pt x="1704340" y="0"/>
                  </a:lnTo>
                  <a:lnTo>
                    <a:pt x="1704340" y="2148840"/>
                  </a:lnTo>
                  <a:close/>
                </a:path>
              </a:pathLst>
            </a:custGeom>
            <a:blipFill>
              <a:blip r:embed="rId5"/>
              <a:stretch>
                <a:fillRect l="-74" t="0" r="-74" b="0"/>
              </a:stretch>
            </a:blipFill>
          </p:spPr>
        </p:sp>
      </p:grpSp>
      <p:sp>
        <p:nvSpPr>
          <p:cNvPr name="Freeform 7" id="7"/>
          <p:cNvSpPr/>
          <p:nvPr/>
        </p:nvSpPr>
        <p:spPr>
          <a:xfrm flipH="true" flipV="false" rot="1146460">
            <a:off x="15919556" y="5658126"/>
            <a:ext cx="3040783" cy="4974697"/>
          </a:xfrm>
          <a:custGeom>
            <a:avLst/>
            <a:gdLst/>
            <a:ahLst/>
            <a:cxnLst/>
            <a:rect r="r" b="b" t="t" l="l"/>
            <a:pathLst>
              <a:path h="4974697" w="3040783">
                <a:moveTo>
                  <a:pt x="3040783" y="0"/>
                </a:moveTo>
                <a:lnTo>
                  <a:pt x="0" y="0"/>
                </a:lnTo>
                <a:lnTo>
                  <a:pt x="0" y="4974697"/>
                </a:lnTo>
                <a:lnTo>
                  <a:pt x="3040783" y="4974697"/>
                </a:lnTo>
                <a:lnTo>
                  <a:pt x="3040783" y="0"/>
                </a:lnTo>
                <a:close/>
              </a:path>
            </a:pathLst>
          </a:custGeom>
          <a:blipFill>
            <a:blip r:embed="rId6"/>
            <a:stretch>
              <a:fillRect l="0" t="0" r="0" b="0"/>
            </a:stretch>
          </a:blipFill>
        </p:spPr>
      </p:sp>
      <p:sp>
        <p:nvSpPr>
          <p:cNvPr name="Freeform 8" id="8"/>
          <p:cNvSpPr/>
          <p:nvPr/>
        </p:nvSpPr>
        <p:spPr>
          <a:xfrm flipH="false" flipV="false" rot="8483749">
            <a:off x="108005" y="1974277"/>
            <a:ext cx="3555438" cy="799973"/>
          </a:xfrm>
          <a:custGeom>
            <a:avLst/>
            <a:gdLst/>
            <a:ahLst/>
            <a:cxnLst/>
            <a:rect r="r" b="b" t="t" l="l"/>
            <a:pathLst>
              <a:path h="799973" w="3555438">
                <a:moveTo>
                  <a:pt x="0" y="0"/>
                </a:moveTo>
                <a:lnTo>
                  <a:pt x="3555437" y="0"/>
                </a:lnTo>
                <a:lnTo>
                  <a:pt x="3555437" y="799973"/>
                </a:lnTo>
                <a:lnTo>
                  <a:pt x="0" y="799973"/>
                </a:lnTo>
                <a:lnTo>
                  <a:pt x="0" y="0"/>
                </a:lnTo>
                <a:close/>
              </a:path>
            </a:pathLst>
          </a:custGeom>
          <a:blipFill>
            <a:blip r:embed="rId7"/>
            <a:stretch>
              <a:fillRect l="0" t="0" r="0" b="0"/>
            </a:stretch>
          </a:blipFill>
        </p:spPr>
      </p:sp>
      <p:sp>
        <p:nvSpPr>
          <p:cNvPr name="TextBox 9" id="9"/>
          <p:cNvSpPr txBox="true"/>
          <p:nvPr/>
        </p:nvSpPr>
        <p:spPr>
          <a:xfrm rot="0">
            <a:off x="8399133" y="552945"/>
            <a:ext cx="10197624" cy="703860"/>
          </a:xfrm>
          <a:prstGeom prst="rect">
            <a:avLst/>
          </a:prstGeom>
        </p:spPr>
        <p:txBody>
          <a:bodyPr anchor="t" rtlCol="false" tIns="0" lIns="0" bIns="0" rIns="0">
            <a:spAutoFit/>
          </a:bodyPr>
          <a:lstStyle/>
          <a:p>
            <a:pPr algn="l">
              <a:lnSpc>
                <a:spcPts val="5006"/>
              </a:lnSpc>
            </a:pPr>
            <a:r>
              <a:rPr lang="en-US" sz="4005" b="true">
                <a:solidFill>
                  <a:srgbClr val="000000"/>
                </a:solidFill>
                <a:latin typeface="Alegreya Sans Bold"/>
                <a:ea typeface="Alegreya Sans Bold"/>
                <a:cs typeface="Alegreya Sans Bold"/>
                <a:sym typeface="Alegreya Sans Bold"/>
              </a:rPr>
              <a:t>Trường Đại học Sư phạm thành phố Hồ Chí Minh</a:t>
            </a:r>
          </a:p>
        </p:txBody>
      </p:sp>
      <p:sp>
        <p:nvSpPr>
          <p:cNvPr name="TextBox 10" id="10"/>
          <p:cNvSpPr txBox="true"/>
          <p:nvPr/>
        </p:nvSpPr>
        <p:spPr>
          <a:xfrm rot="0">
            <a:off x="7593566" y="1578761"/>
            <a:ext cx="10447699" cy="9867605"/>
          </a:xfrm>
          <a:prstGeom prst="rect">
            <a:avLst/>
          </a:prstGeom>
        </p:spPr>
        <p:txBody>
          <a:bodyPr anchor="t" rtlCol="false" tIns="0" lIns="0" bIns="0" rIns="0">
            <a:spAutoFit/>
          </a:bodyPr>
          <a:lstStyle/>
          <a:p>
            <a:pPr algn="l">
              <a:lnSpc>
                <a:spcPts val="4113"/>
              </a:lnSpc>
            </a:pPr>
            <a:r>
              <a:rPr lang="en-US" sz="2938">
                <a:solidFill>
                  <a:srgbClr val="000000"/>
                </a:solidFill>
                <a:latin typeface="Alegreya Sans"/>
                <a:ea typeface="Alegreya Sans"/>
                <a:cs typeface="Alegreya Sans"/>
                <a:sym typeface="Alegreya Sans"/>
              </a:rPr>
              <a:t>Trường Đại học Sư phạm Thành phố Hồ Chí Minh (HCMUE) là trường đại học trọng điểm quốc gia, chuyên đào tạo giáo viên và ngôn ngữ hàng đầu tại miền Nam, thành lập ngày 27/10/1976. Trường nổi tiếng với chất lượng đào tạo sư phạm cao, đội ngũ giảng viên dày dặn kinh nghiệm và tổ chức kỳ thi đánh giá năng lực chuyên biệt uy tín để tuyển sinh</a:t>
            </a:r>
          </a:p>
          <a:p>
            <a:pPr algn="l">
              <a:lnSpc>
                <a:spcPts val="4113"/>
              </a:lnSpc>
            </a:pPr>
            <a:r>
              <a:rPr lang="en-US" sz="2938">
                <a:solidFill>
                  <a:srgbClr val="000000"/>
                </a:solidFill>
                <a:latin typeface="Alegreya Sans"/>
                <a:ea typeface="Alegreya Sans"/>
                <a:cs typeface="Alegreya Sans"/>
                <a:sym typeface="Alegreya Sans"/>
              </a:rPr>
              <a:t>Ngành Giáo dục Tiểu học:</a:t>
            </a:r>
          </a:p>
          <a:p>
            <a:pPr algn="l">
              <a:lnSpc>
                <a:spcPts val="4113"/>
              </a:lnSpc>
            </a:pPr>
            <a:r>
              <a:rPr lang="en-US" sz="2938">
                <a:solidFill>
                  <a:srgbClr val="000000"/>
                </a:solidFill>
                <a:latin typeface="Alegreya Sans"/>
                <a:ea typeface="Alegreya Sans"/>
                <a:cs typeface="Alegreya Sans"/>
                <a:sym typeface="Alegreya Sans"/>
              </a:rPr>
              <a:t>Tổ hợp môn xét tuyển</a:t>
            </a:r>
          </a:p>
          <a:p>
            <a:pPr algn="l">
              <a:lnSpc>
                <a:spcPts val="4113"/>
              </a:lnSpc>
            </a:pPr>
            <a:r>
              <a:rPr lang="en-US" sz="2938">
                <a:solidFill>
                  <a:srgbClr val="000000"/>
                </a:solidFill>
                <a:latin typeface="Alegreya Sans"/>
                <a:ea typeface="Alegreya Sans"/>
                <a:cs typeface="Alegreya Sans"/>
                <a:sym typeface="Alegreya Sans"/>
              </a:rPr>
              <a:t>Trường thường sử dụng các tổ hợp sau cho ngành này:</a:t>
            </a:r>
          </a:p>
          <a:p>
            <a:pPr algn="l">
              <a:lnSpc>
                <a:spcPts val="4113"/>
              </a:lnSpc>
            </a:pPr>
            <a:r>
              <a:rPr lang="en-US" sz="2938">
                <a:solidFill>
                  <a:srgbClr val="000000"/>
                </a:solidFill>
                <a:latin typeface="Alegreya Sans"/>
                <a:ea typeface="Alegreya Sans"/>
                <a:cs typeface="Alegreya Sans"/>
                <a:sym typeface="Alegreya Sans"/>
              </a:rPr>
              <a:t>A01: Toán, Vật lý, Tiếng Anh.</a:t>
            </a:r>
          </a:p>
          <a:p>
            <a:pPr algn="l">
              <a:lnSpc>
                <a:spcPts val="4113"/>
              </a:lnSpc>
            </a:pPr>
            <a:r>
              <a:rPr lang="en-US" sz="2938">
                <a:solidFill>
                  <a:srgbClr val="000000"/>
                </a:solidFill>
                <a:latin typeface="Alegreya Sans"/>
                <a:ea typeface="Alegreya Sans"/>
                <a:cs typeface="Alegreya Sans"/>
                <a:sym typeface="Alegreya Sans"/>
              </a:rPr>
              <a:t>D01: Toán, Ngữ văn, Tiếng Anh.</a:t>
            </a:r>
          </a:p>
          <a:p>
            <a:pPr algn="l">
              <a:lnSpc>
                <a:spcPts val="4113"/>
              </a:lnSpc>
            </a:pPr>
            <a:r>
              <a:rPr lang="en-US" sz="2938">
                <a:solidFill>
                  <a:srgbClr val="000000"/>
                </a:solidFill>
                <a:latin typeface="Alegreya Sans"/>
                <a:ea typeface="Alegreya Sans"/>
                <a:cs typeface="Alegreya Sans"/>
                <a:sym typeface="Alegreya Sans"/>
              </a:rPr>
              <a:t>C00: Ngữ văn, Lịch sử, Địa lý.</a:t>
            </a:r>
          </a:p>
          <a:p>
            <a:pPr algn="l">
              <a:lnSpc>
                <a:spcPts val="4113"/>
              </a:lnSpc>
            </a:pPr>
            <a:r>
              <a:rPr lang="en-US" sz="2938">
                <a:solidFill>
                  <a:srgbClr val="000000"/>
                </a:solidFill>
                <a:latin typeface="Alegreya Sans"/>
                <a:ea typeface="Alegreya Sans"/>
                <a:cs typeface="Alegreya Sans"/>
                <a:sym typeface="Alegreya Sans"/>
              </a:rPr>
              <a:t>D03: Toán, Ngữ văn, Tiếng Pháp.</a:t>
            </a:r>
          </a:p>
          <a:p>
            <a:pPr algn="l">
              <a:lnSpc>
                <a:spcPts val="4113"/>
              </a:lnSpc>
            </a:pPr>
            <a:r>
              <a:rPr lang="en-US" sz="2938">
                <a:solidFill>
                  <a:srgbClr val="000000"/>
                </a:solidFill>
                <a:latin typeface="Alegreya Sans"/>
                <a:ea typeface="Alegreya Sans"/>
                <a:cs typeface="Alegreya Sans"/>
                <a:sym typeface="Alegreya Sans"/>
              </a:rPr>
              <a:t>Điểm Chuẩn:</a:t>
            </a:r>
          </a:p>
          <a:p>
            <a:pPr algn="l">
              <a:lnSpc>
                <a:spcPts val="4113"/>
              </a:lnSpc>
            </a:pPr>
            <a:r>
              <a:rPr lang="en-US" sz="2938">
                <a:solidFill>
                  <a:srgbClr val="000000"/>
                </a:solidFill>
                <a:latin typeface="Alegreya Sans"/>
                <a:ea typeface="Alegreya Sans"/>
                <a:cs typeface="Alegreya Sans"/>
                <a:sym typeface="Alegreya Sans"/>
              </a:rPr>
              <a:t>Xét điểm thi tốt nghiệp THPT: Thường dao động từ 27.0 đến 28.5 điểm (trung bình mỗi môn phải trên 9 điểm).</a:t>
            </a:r>
          </a:p>
          <a:p>
            <a:pPr algn="l">
              <a:lnSpc>
                <a:spcPts val="4113"/>
              </a:lnSpc>
            </a:pPr>
          </a:p>
          <a:p>
            <a:pPr algn="l">
              <a:lnSpc>
                <a:spcPts val="4113"/>
              </a:lnSpc>
            </a:pPr>
          </a:p>
          <a:p>
            <a:pPr algn="l">
              <a:lnSpc>
                <a:spcPts val="4113"/>
              </a:lnSpc>
            </a:pPr>
          </a:p>
          <a:p>
            <a:pPr algn="l">
              <a:lnSpc>
                <a:spcPts val="4113"/>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4C8C0"/>
        </a:solidFill>
      </p:bgPr>
    </p:bg>
    <p:spTree>
      <p:nvGrpSpPr>
        <p:cNvPr id="1" name=""/>
        <p:cNvGrpSpPr/>
        <p:nvPr/>
      </p:nvGrpSpPr>
      <p:grpSpPr>
        <a:xfrm>
          <a:off x="0" y="0"/>
          <a:ext cx="0" cy="0"/>
          <a:chOff x="0" y="0"/>
          <a:chExt cx="0" cy="0"/>
        </a:xfrm>
      </p:grpSpPr>
      <p:sp>
        <p:nvSpPr>
          <p:cNvPr name="Freeform 2" id="2"/>
          <p:cNvSpPr/>
          <p:nvPr/>
        </p:nvSpPr>
        <p:spPr>
          <a:xfrm flipH="true" flipV="true" rot="-10203472">
            <a:off x="12374822" y="-3423872"/>
            <a:ext cx="9768957" cy="23539655"/>
          </a:xfrm>
          <a:custGeom>
            <a:avLst/>
            <a:gdLst/>
            <a:ahLst/>
            <a:cxnLst/>
            <a:rect r="r" b="b" t="t" l="l"/>
            <a:pathLst>
              <a:path h="23539655" w="9768957">
                <a:moveTo>
                  <a:pt x="9768956" y="23539655"/>
                </a:moveTo>
                <a:lnTo>
                  <a:pt x="0" y="23539655"/>
                </a:lnTo>
                <a:lnTo>
                  <a:pt x="0" y="0"/>
                </a:lnTo>
                <a:lnTo>
                  <a:pt x="9768956" y="0"/>
                </a:lnTo>
                <a:lnTo>
                  <a:pt x="9768956" y="23539655"/>
                </a:lnTo>
                <a:close/>
              </a:path>
            </a:pathLst>
          </a:custGeom>
          <a:blipFill>
            <a:blip r:embed="rId2"/>
            <a:stretch>
              <a:fillRect l="0" t="0" r="0" b="0"/>
            </a:stretch>
          </a:blipFill>
        </p:spPr>
      </p:sp>
      <p:grpSp>
        <p:nvGrpSpPr>
          <p:cNvPr name="Group 3" id="3"/>
          <p:cNvGrpSpPr/>
          <p:nvPr/>
        </p:nvGrpSpPr>
        <p:grpSpPr>
          <a:xfrm rot="0">
            <a:off x="4019680" y="2509717"/>
            <a:ext cx="6354314" cy="9639237"/>
            <a:chOff x="0" y="0"/>
            <a:chExt cx="8472418" cy="12852316"/>
          </a:xfrm>
        </p:grpSpPr>
        <p:sp>
          <p:nvSpPr>
            <p:cNvPr name="TextBox 4" id="4"/>
            <p:cNvSpPr txBox="true"/>
            <p:nvPr/>
          </p:nvSpPr>
          <p:spPr>
            <a:xfrm rot="0">
              <a:off x="561466" y="12585467"/>
              <a:ext cx="7910952" cy="266849"/>
            </a:xfrm>
            <a:prstGeom prst="rect">
              <a:avLst/>
            </a:prstGeom>
          </p:spPr>
          <p:txBody>
            <a:bodyPr anchor="t" rtlCol="false" tIns="0" lIns="0" bIns="0" rIns="0">
              <a:spAutoFit/>
            </a:bodyPr>
            <a:lstStyle/>
            <a:p>
              <a:pPr algn="l" marL="0" indent="0" lvl="0">
                <a:lnSpc>
                  <a:spcPts val="1536"/>
                </a:lnSpc>
              </a:pPr>
              <a:r>
                <a:rPr lang="en-US" sz="1097">
                  <a:solidFill>
                    <a:srgbClr val="000000"/>
                  </a:solidFill>
                  <a:latin typeface="Alegreya Sans"/>
                  <a:ea typeface="Alegreya Sans"/>
                  <a:cs typeface="Alegreya Sans"/>
                  <a:sym typeface="Alegreya Sans"/>
                </a:rPr>
                <a:t>Cách anh ấy nhìn chằm chằm như đang thôi miên.</a:t>
              </a:r>
            </a:p>
          </p:txBody>
        </p:sp>
        <p:sp>
          <p:nvSpPr>
            <p:cNvPr name="TextBox 5" id="5"/>
            <p:cNvSpPr txBox="true"/>
            <p:nvPr/>
          </p:nvSpPr>
          <p:spPr>
            <a:xfrm rot="0">
              <a:off x="0" y="-66675"/>
              <a:ext cx="7910952" cy="11437478"/>
            </a:xfrm>
            <a:prstGeom prst="rect">
              <a:avLst/>
            </a:prstGeom>
          </p:spPr>
          <p:txBody>
            <a:bodyPr anchor="t" rtlCol="false" tIns="0" lIns="0" bIns="0" rIns="0">
              <a:spAutoFit/>
            </a:bodyPr>
            <a:lstStyle/>
            <a:p>
              <a:pPr algn="l">
                <a:lnSpc>
                  <a:spcPts val="3395"/>
                </a:lnSpc>
              </a:pPr>
              <a:r>
                <a:rPr lang="en-US" sz="2716">
                  <a:solidFill>
                    <a:srgbClr val="000000"/>
                  </a:solidFill>
                  <a:latin typeface="Alegreya Sans"/>
                  <a:ea typeface="Alegreya Sans"/>
                  <a:cs typeface="Alegreya Sans"/>
                  <a:sym typeface="Alegreya Sans"/>
                </a:rPr>
                <a:t>Trường Đại học Tây Nguyên (TNU - Mã trường: TTN) là cơ sở đào tạo đa ngành lớn nhất khu vực Tây Nguyên, đóng vai trò quan trọng trong việc cung cấp nguồn nhân lực cho vùng.</a:t>
              </a:r>
            </a:p>
            <a:p>
              <a:pPr algn="l">
                <a:lnSpc>
                  <a:spcPts val="3395"/>
                </a:lnSpc>
              </a:pPr>
              <a:r>
                <a:rPr lang="en-US" sz="2716">
                  <a:solidFill>
                    <a:srgbClr val="000000"/>
                  </a:solidFill>
                  <a:latin typeface="Alegreya Sans"/>
                  <a:ea typeface="Alegreya Sans"/>
                  <a:cs typeface="Alegreya Sans"/>
                  <a:sym typeface="Alegreya Sans"/>
                </a:rPr>
                <a:t>Tổ hợp môn xét tuyển: A00, C00, C03, D01.</a:t>
              </a:r>
            </a:p>
            <a:p>
              <a:pPr algn="l" marL="586498" indent="-293249" lvl="1">
                <a:lnSpc>
                  <a:spcPts val="3395"/>
                </a:lnSpc>
                <a:buFont typeface="Arial"/>
                <a:buChar char="•"/>
              </a:pPr>
              <a:r>
                <a:rPr lang="en-US" sz="2716">
                  <a:solidFill>
                    <a:srgbClr val="000000"/>
                  </a:solidFill>
                  <a:latin typeface="Alegreya Sans"/>
                  <a:ea typeface="Alegreya Sans"/>
                  <a:cs typeface="Alegreya Sans"/>
                  <a:sym typeface="Alegreya Sans"/>
                </a:rPr>
                <a:t>Tổ hợp môn xét tuyển: A00, C00, C03, D01.</a:t>
              </a:r>
            </a:p>
            <a:p>
              <a:pPr algn="l" marL="586498" indent="-293249" lvl="1">
                <a:lnSpc>
                  <a:spcPts val="3395"/>
                </a:lnSpc>
                <a:buFont typeface="Arial"/>
                <a:buChar char="•"/>
              </a:pPr>
              <a:r>
                <a:rPr lang="en-US" sz="2716">
                  <a:solidFill>
                    <a:srgbClr val="000000"/>
                  </a:solidFill>
                  <a:latin typeface="Alegreya Sans"/>
                  <a:ea typeface="Alegreya Sans"/>
                  <a:cs typeface="Alegreya Sans"/>
                  <a:sym typeface="Alegreya Sans"/>
                </a:rPr>
                <a:t>Điểm chuẩn năm 2025 (Tham khảo):</a:t>
              </a:r>
            </a:p>
            <a:p>
              <a:pPr algn="l" marL="1172996" indent="-390999" lvl="2">
                <a:lnSpc>
                  <a:spcPts val="3395"/>
                </a:lnSpc>
                <a:buFont typeface="Arial"/>
                <a:buChar char="⚬"/>
              </a:pPr>
              <a:r>
                <a:rPr lang="en-US" sz="2716">
                  <a:solidFill>
                    <a:srgbClr val="000000"/>
                  </a:solidFill>
                  <a:latin typeface="Alegreya Sans"/>
                  <a:ea typeface="Alegreya Sans"/>
                  <a:cs typeface="Alegreya Sans"/>
                  <a:sym typeface="Alegreya Sans"/>
                </a:rPr>
                <a:t>Xét điểm thi tốt nghiệp THPT: 27,04 điểm.</a:t>
              </a:r>
            </a:p>
            <a:p>
              <a:pPr algn="l" marL="1172996" indent="-390999" lvl="2">
                <a:lnSpc>
                  <a:spcPts val="3395"/>
                </a:lnSpc>
                <a:buFont typeface="Arial"/>
                <a:buChar char="⚬"/>
              </a:pPr>
              <a:r>
                <a:rPr lang="en-US" sz="2716">
                  <a:solidFill>
                    <a:srgbClr val="000000"/>
                  </a:solidFill>
                  <a:latin typeface="Alegreya Sans"/>
                  <a:ea typeface="Alegreya Sans"/>
                  <a:cs typeface="Alegreya Sans"/>
                  <a:sym typeface="Alegreya Sans"/>
                </a:rPr>
                <a:t>Xét học bạ THPT: 28,61 điểm.</a:t>
              </a:r>
            </a:p>
            <a:p>
              <a:pPr algn="l" marL="1172996" indent="-390999" lvl="2">
                <a:lnSpc>
                  <a:spcPts val="3395"/>
                </a:lnSpc>
                <a:buFont typeface="Arial"/>
                <a:buChar char="⚬"/>
              </a:pPr>
              <a:r>
                <a:rPr lang="en-US" sz="2716">
                  <a:solidFill>
                    <a:srgbClr val="000000"/>
                  </a:solidFill>
                  <a:latin typeface="Alegreya Sans"/>
                  <a:ea typeface="Alegreya Sans"/>
                  <a:cs typeface="Alegreya Sans"/>
                  <a:sym typeface="Alegreya Sans"/>
                </a:rPr>
                <a:t>Xét điểm Đánh giá năng lực (ĐHQG TP.HCM): Khoảng 700 điểm.</a:t>
              </a:r>
            </a:p>
            <a:p>
              <a:pPr algn="l">
                <a:lnSpc>
                  <a:spcPts val="3395"/>
                </a:lnSpc>
              </a:pPr>
            </a:p>
            <a:p>
              <a:pPr algn="l">
                <a:lnSpc>
                  <a:spcPts val="3395"/>
                </a:lnSpc>
              </a:pPr>
            </a:p>
            <a:p>
              <a:pPr algn="l">
                <a:lnSpc>
                  <a:spcPts val="3395"/>
                </a:lnSpc>
              </a:pPr>
            </a:p>
            <a:p>
              <a:pPr algn="l">
                <a:lnSpc>
                  <a:spcPts val="3395"/>
                </a:lnSpc>
              </a:pPr>
            </a:p>
            <a:p>
              <a:pPr algn="l">
                <a:lnSpc>
                  <a:spcPts val="3395"/>
                </a:lnSpc>
              </a:pPr>
            </a:p>
            <a:p>
              <a:pPr algn="l">
                <a:lnSpc>
                  <a:spcPts val="3395"/>
                </a:lnSpc>
              </a:pPr>
            </a:p>
          </p:txBody>
        </p:sp>
      </p:grpSp>
      <p:grpSp>
        <p:nvGrpSpPr>
          <p:cNvPr name="Group 6" id="6"/>
          <p:cNvGrpSpPr/>
          <p:nvPr/>
        </p:nvGrpSpPr>
        <p:grpSpPr>
          <a:xfrm rot="0">
            <a:off x="3906999" y="277803"/>
            <a:ext cx="10844517" cy="2084027"/>
            <a:chOff x="0" y="0"/>
            <a:chExt cx="14459356" cy="2778703"/>
          </a:xfrm>
        </p:grpSpPr>
        <p:sp>
          <p:nvSpPr>
            <p:cNvPr name="Freeform 7" id="7"/>
            <p:cNvSpPr/>
            <p:nvPr/>
          </p:nvSpPr>
          <p:spPr>
            <a:xfrm flipH="false" flipV="true" rot="-142622">
              <a:off x="39106" y="297292"/>
              <a:ext cx="14381143" cy="2184118"/>
            </a:xfrm>
            <a:custGeom>
              <a:avLst/>
              <a:gdLst/>
              <a:ahLst/>
              <a:cxnLst/>
              <a:rect r="r" b="b" t="t" l="l"/>
              <a:pathLst>
                <a:path h="2184118" w="14381143">
                  <a:moveTo>
                    <a:pt x="0" y="2184118"/>
                  </a:moveTo>
                  <a:lnTo>
                    <a:pt x="14381144" y="2184118"/>
                  </a:lnTo>
                  <a:lnTo>
                    <a:pt x="14381144" y="0"/>
                  </a:lnTo>
                  <a:lnTo>
                    <a:pt x="0" y="0"/>
                  </a:lnTo>
                  <a:lnTo>
                    <a:pt x="0" y="2184118"/>
                  </a:lnTo>
                  <a:close/>
                </a:path>
              </a:pathLst>
            </a:custGeom>
            <a:blipFill>
              <a:blip r:embed="rId3"/>
              <a:stretch>
                <a:fillRect l="0" t="-71811" r="0" b="-71811"/>
              </a:stretch>
            </a:blipFill>
          </p:spPr>
        </p:sp>
        <p:sp>
          <p:nvSpPr>
            <p:cNvPr name="TextBox 8" id="8"/>
            <p:cNvSpPr txBox="true"/>
            <p:nvPr/>
          </p:nvSpPr>
          <p:spPr>
            <a:xfrm rot="0">
              <a:off x="2181539" y="696519"/>
              <a:ext cx="10096278" cy="1267528"/>
            </a:xfrm>
            <a:prstGeom prst="rect">
              <a:avLst/>
            </a:prstGeom>
          </p:spPr>
          <p:txBody>
            <a:bodyPr anchor="t" rtlCol="false" tIns="0" lIns="0" bIns="0" rIns="0">
              <a:spAutoFit/>
            </a:bodyPr>
            <a:lstStyle/>
            <a:p>
              <a:pPr algn="ctr" marL="0" indent="0" lvl="0">
                <a:lnSpc>
                  <a:spcPts val="7648"/>
                </a:lnSpc>
                <a:spcBef>
                  <a:spcPct val="0"/>
                </a:spcBef>
              </a:pPr>
              <a:r>
                <a:rPr lang="en-US" sz="5098">
                  <a:solidFill>
                    <a:srgbClr val="000000"/>
                  </a:solidFill>
                  <a:latin typeface="Alegreya Sans"/>
                  <a:ea typeface="Alegreya Sans"/>
                  <a:cs typeface="Alegreya Sans"/>
                  <a:sym typeface="Alegreya Sans"/>
                </a:rPr>
                <a:t>Trường Đại Học Tây Nguyên</a:t>
              </a:r>
            </a:p>
          </p:txBody>
        </p:sp>
      </p:grpSp>
      <p:sp>
        <p:nvSpPr>
          <p:cNvPr name="Freeform 9" id="9"/>
          <p:cNvSpPr/>
          <p:nvPr/>
        </p:nvSpPr>
        <p:spPr>
          <a:xfrm flipH="true" flipV="true" rot="-10154400">
            <a:off x="-3855778" y="-9696962"/>
            <a:ext cx="9768957" cy="23539655"/>
          </a:xfrm>
          <a:custGeom>
            <a:avLst/>
            <a:gdLst/>
            <a:ahLst/>
            <a:cxnLst/>
            <a:rect r="r" b="b" t="t" l="l"/>
            <a:pathLst>
              <a:path h="23539655" w="9768957">
                <a:moveTo>
                  <a:pt x="9768956" y="23539655"/>
                </a:moveTo>
                <a:lnTo>
                  <a:pt x="0" y="23539655"/>
                </a:lnTo>
                <a:lnTo>
                  <a:pt x="0" y="0"/>
                </a:lnTo>
                <a:lnTo>
                  <a:pt x="9768956" y="0"/>
                </a:lnTo>
                <a:lnTo>
                  <a:pt x="9768956" y="23539655"/>
                </a:lnTo>
                <a:close/>
              </a:path>
            </a:pathLst>
          </a:custGeom>
          <a:blipFill>
            <a:blip r:embed="rId2"/>
            <a:stretch>
              <a:fillRect l="0" t="0" r="0" b="0"/>
            </a:stretch>
          </a:blipFill>
        </p:spPr>
      </p:sp>
      <p:sp>
        <p:nvSpPr>
          <p:cNvPr name="Freeform 10" id="10"/>
          <p:cNvSpPr/>
          <p:nvPr/>
        </p:nvSpPr>
        <p:spPr>
          <a:xfrm flipH="false" flipV="false" rot="0">
            <a:off x="4968455" y="8507364"/>
            <a:ext cx="750936" cy="750936"/>
          </a:xfrm>
          <a:custGeom>
            <a:avLst/>
            <a:gdLst/>
            <a:ahLst/>
            <a:cxnLst/>
            <a:rect r="r" b="b" t="t" l="l"/>
            <a:pathLst>
              <a:path h="750936" w="750936">
                <a:moveTo>
                  <a:pt x="0" y="0"/>
                </a:moveTo>
                <a:lnTo>
                  <a:pt x="750936" y="0"/>
                </a:lnTo>
                <a:lnTo>
                  <a:pt x="750936" y="750936"/>
                </a:lnTo>
                <a:lnTo>
                  <a:pt x="0" y="750936"/>
                </a:lnTo>
                <a:lnTo>
                  <a:pt x="0" y="0"/>
                </a:lnTo>
                <a:close/>
              </a:path>
            </a:pathLst>
          </a:custGeom>
          <a:blipFill>
            <a:blip r:embed="rId4"/>
            <a:stretch>
              <a:fillRect l="0" t="0" r="0" b="0"/>
            </a:stretch>
          </a:blipFill>
        </p:spPr>
      </p:sp>
      <p:sp>
        <p:nvSpPr>
          <p:cNvPr name="Freeform 11" id="11"/>
          <p:cNvSpPr/>
          <p:nvPr/>
        </p:nvSpPr>
        <p:spPr>
          <a:xfrm flipH="false" flipV="false" rot="0">
            <a:off x="13319545" y="816165"/>
            <a:ext cx="750936" cy="750936"/>
          </a:xfrm>
          <a:custGeom>
            <a:avLst/>
            <a:gdLst/>
            <a:ahLst/>
            <a:cxnLst/>
            <a:rect r="r" b="b" t="t" l="l"/>
            <a:pathLst>
              <a:path h="750936" w="750936">
                <a:moveTo>
                  <a:pt x="0" y="0"/>
                </a:moveTo>
                <a:lnTo>
                  <a:pt x="750936" y="0"/>
                </a:lnTo>
                <a:lnTo>
                  <a:pt x="750936" y="750937"/>
                </a:lnTo>
                <a:lnTo>
                  <a:pt x="0" y="750937"/>
                </a:lnTo>
                <a:lnTo>
                  <a:pt x="0" y="0"/>
                </a:lnTo>
                <a:close/>
              </a:path>
            </a:pathLst>
          </a:custGeom>
          <a:blipFill>
            <a:blip r:embed="rId4"/>
            <a:stretch>
              <a:fillRect l="0" t="0" r="0" b="0"/>
            </a:stretch>
          </a:blipFill>
        </p:spPr>
      </p:sp>
      <p:sp>
        <p:nvSpPr>
          <p:cNvPr name="Freeform 12" id="12"/>
          <p:cNvSpPr/>
          <p:nvPr/>
        </p:nvSpPr>
        <p:spPr>
          <a:xfrm flipH="true" flipV="false" rot="-7243508">
            <a:off x="-360495" y="-1878816"/>
            <a:ext cx="3623130" cy="6140898"/>
          </a:xfrm>
          <a:custGeom>
            <a:avLst/>
            <a:gdLst/>
            <a:ahLst/>
            <a:cxnLst/>
            <a:rect r="r" b="b" t="t" l="l"/>
            <a:pathLst>
              <a:path h="6140898" w="3623130">
                <a:moveTo>
                  <a:pt x="3623130" y="0"/>
                </a:moveTo>
                <a:lnTo>
                  <a:pt x="0" y="0"/>
                </a:lnTo>
                <a:lnTo>
                  <a:pt x="0" y="6140899"/>
                </a:lnTo>
                <a:lnTo>
                  <a:pt x="3623130" y="6140899"/>
                </a:lnTo>
                <a:lnTo>
                  <a:pt x="3623130" y="0"/>
                </a:lnTo>
                <a:close/>
              </a:path>
            </a:pathLst>
          </a:custGeom>
          <a:blipFill>
            <a:blip r:embed="rId5"/>
            <a:stretch>
              <a:fillRect l="0" t="0" r="0" b="0"/>
            </a:stretch>
          </a:blipFill>
        </p:spPr>
      </p:sp>
      <p:sp>
        <p:nvSpPr>
          <p:cNvPr name="Freeform 13" id="13"/>
          <p:cNvSpPr/>
          <p:nvPr/>
        </p:nvSpPr>
        <p:spPr>
          <a:xfrm flipH="true" flipV="false" rot="3597140">
            <a:off x="14689341" y="6235476"/>
            <a:ext cx="3623130" cy="6140898"/>
          </a:xfrm>
          <a:custGeom>
            <a:avLst/>
            <a:gdLst/>
            <a:ahLst/>
            <a:cxnLst/>
            <a:rect r="r" b="b" t="t" l="l"/>
            <a:pathLst>
              <a:path h="6140898" w="3623130">
                <a:moveTo>
                  <a:pt x="3623130" y="0"/>
                </a:moveTo>
                <a:lnTo>
                  <a:pt x="0" y="0"/>
                </a:lnTo>
                <a:lnTo>
                  <a:pt x="0" y="6140898"/>
                </a:lnTo>
                <a:lnTo>
                  <a:pt x="3623130" y="6140898"/>
                </a:lnTo>
                <a:lnTo>
                  <a:pt x="3623130" y="0"/>
                </a:lnTo>
                <a:close/>
              </a:path>
            </a:pathLst>
          </a:custGeom>
          <a:blipFill>
            <a:blip r:embed="rId5"/>
            <a:stretch>
              <a:fillRect l="0" t="0" r="0" b="0"/>
            </a:stretch>
          </a:blipFill>
        </p:spPr>
      </p:sp>
      <p:grpSp>
        <p:nvGrpSpPr>
          <p:cNvPr name="Group 14" id="14"/>
          <p:cNvGrpSpPr>
            <a:grpSpLocks noChangeAspect="true"/>
          </p:cNvGrpSpPr>
          <p:nvPr/>
        </p:nvGrpSpPr>
        <p:grpSpPr>
          <a:xfrm rot="-75515">
            <a:off x="10744665" y="1647143"/>
            <a:ext cx="7416213" cy="11656512"/>
            <a:chOff x="0" y="0"/>
            <a:chExt cx="2185670" cy="3435350"/>
          </a:xfrm>
        </p:grpSpPr>
        <p:sp>
          <p:nvSpPr>
            <p:cNvPr name="Freeform 15" id="15"/>
            <p:cNvSpPr/>
            <p:nvPr/>
          </p:nvSpPr>
          <p:spPr>
            <a:xfrm flipH="false" flipV="false" rot="0">
              <a:off x="124460" y="260350"/>
              <a:ext cx="1935480" cy="2559050"/>
            </a:xfrm>
            <a:custGeom>
              <a:avLst/>
              <a:gdLst/>
              <a:ahLst/>
              <a:cxnLst/>
              <a:rect r="r" b="b" t="t" l="l"/>
              <a:pathLst>
                <a:path h="2559050" w="1935480">
                  <a:moveTo>
                    <a:pt x="1935480" y="2559050"/>
                  </a:moveTo>
                  <a:lnTo>
                    <a:pt x="0" y="2559050"/>
                  </a:lnTo>
                  <a:lnTo>
                    <a:pt x="0" y="0"/>
                  </a:lnTo>
                  <a:lnTo>
                    <a:pt x="1935480" y="0"/>
                  </a:lnTo>
                  <a:lnTo>
                    <a:pt x="1935480" y="2559050"/>
                  </a:lnTo>
                  <a:close/>
                </a:path>
              </a:pathLst>
            </a:custGeom>
            <a:blipFill>
              <a:blip r:embed="rId6"/>
              <a:stretch>
                <a:fillRect l="-38145" t="0" r="-38145" b="0"/>
              </a:stretch>
            </a:blipFill>
          </p:spPr>
        </p:sp>
        <p:sp>
          <p:nvSpPr>
            <p:cNvPr name="Freeform 16" id="16"/>
            <p:cNvSpPr/>
            <p:nvPr/>
          </p:nvSpPr>
          <p:spPr>
            <a:xfrm flipH="false" flipV="false" rot="0">
              <a:off x="0" y="0"/>
              <a:ext cx="2185670" cy="3435350"/>
            </a:xfrm>
            <a:custGeom>
              <a:avLst/>
              <a:gdLst/>
              <a:ahLst/>
              <a:cxnLst/>
              <a:rect r="r" b="b" t="t" l="l"/>
              <a:pathLst>
                <a:path h="3435350" w="2185670">
                  <a:moveTo>
                    <a:pt x="2185670" y="3435350"/>
                  </a:moveTo>
                  <a:lnTo>
                    <a:pt x="0" y="3435350"/>
                  </a:lnTo>
                  <a:lnTo>
                    <a:pt x="0" y="0"/>
                  </a:lnTo>
                  <a:lnTo>
                    <a:pt x="2185670" y="0"/>
                  </a:lnTo>
                  <a:lnTo>
                    <a:pt x="2185670" y="3435350"/>
                  </a:lnTo>
                  <a:close/>
                </a:path>
              </a:pathLst>
            </a:custGeom>
            <a:blipFill>
              <a:blip r:embed="rId7"/>
              <a:stretch>
                <a:fillRect l="-99" t="0" r="-99" b="0"/>
              </a:stretch>
            </a:blipFill>
          </p:spPr>
        </p:sp>
      </p:grpSp>
      <p:sp>
        <p:nvSpPr>
          <p:cNvPr name="Freeform 17" id="17"/>
          <p:cNvSpPr/>
          <p:nvPr/>
        </p:nvSpPr>
        <p:spPr>
          <a:xfrm flipH="true" flipV="false" rot="-7815158">
            <a:off x="14960904" y="74846"/>
            <a:ext cx="3975293" cy="4315107"/>
          </a:xfrm>
          <a:custGeom>
            <a:avLst/>
            <a:gdLst/>
            <a:ahLst/>
            <a:cxnLst/>
            <a:rect r="r" b="b" t="t" l="l"/>
            <a:pathLst>
              <a:path h="4315107" w="3975293">
                <a:moveTo>
                  <a:pt x="3975293" y="0"/>
                </a:moveTo>
                <a:lnTo>
                  <a:pt x="0" y="0"/>
                </a:lnTo>
                <a:lnTo>
                  <a:pt x="0" y="4315108"/>
                </a:lnTo>
                <a:lnTo>
                  <a:pt x="3975293" y="4315108"/>
                </a:lnTo>
                <a:lnTo>
                  <a:pt x="3975293" y="0"/>
                </a:lnTo>
                <a:close/>
              </a:path>
            </a:pathLst>
          </a:custGeom>
          <a:blipFill>
            <a:blip r:embed="rId8"/>
            <a:stretch>
              <a:fillRect l="0" t="0" r="0" b="0"/>
            </a:stretch>
          </a:blipFill>
        </p:spPr>
      </p:sp>
      <p:sp>
        <p:nvSpPr>
          <p:cNvPr name="Freeform 18" id="18"/>
          <p:cNvSpPr/>
          <p:nvPr/>
        </p:nvSpPr>
        <p:spPr>
          <a:xfrm flipH="true" flipV="false" rot="1865930">
            <a:off x="-250163" y="6188402"/>
            <a:ext cx="3975293" cy="4315107"/>
          </a:xfrm>
          <a:custGeom>
            <a:avLst/>
            <a:gdLst/>
            <a:ahLst/>
            <a:cxnLst/>
            <a:rect r="r" b="b" t="t" l="l"/>
            <a:pathLst>
              <a:path h="4315107" w="3975293">
                <a:moveTo>
                  <a:pt x="3975292" y="0"/>
                </a:moveTo>
                <a:lnTo>
                  <a:pt x="0" y="0"/>
                </a:lnTo>
                <a:lnTo>
                  <a:pt x="0" y="4315107"/>
                </a:lnTo>
                <a:lnTo>
                  <a:pt x="3975292" y="4315107"/>
                </a:lnTo>
                <a:lnTo>
                  <a:pt x="3975292" y="0"/>
                </a:lnTo>
                <a:close/>
              </a:path>
            </a:pathLst>
          </a:custGeom>
          <a:blipFill>
            <a:blip r:embed="rId8"/>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4C8C0"/>
        </a:solidFill>
      </p:bgPr>
    </p:bg>
    <p:spTree>
      <p:nvGrpSpPr>
        <p:cNvPr id="1" name=""/>
        <p:cNvGrpSpPr/>
        <p:nvPr/>
      </p:nvGrpSpPr>
      <p:grpSpPr>
        <a:xfrm>
          <a:off x="0" y="0"/>
          <a:ext cx="0" cy="0"/>
          <a:chOff x="0" y="0"/>
          <a:chExt cx="0" cy="0"/>
        </a:xfrm>
      </p:grpSpPr>
      <p:sp>
        <p:nvSpPr>
          <p:cNvPr name="Freeform 2" id="2"/>
          <p:cNvSpPr/>
          <p:nvPr/>
        </p:nvSpPr>
        <p:spPr>
          <a:xfrm flipH="false" flipV="true" rot="2827112">
            <a:off x="1874837" y="1823623"/>
            <a:ext cx="5170025" cy="6893367"/>
          </a:xfrm>
          <a:custGeom>
            <a:avLst/>
            <a:gdLst/>
            <a:ahLst/>
            <a:cxnLst/>
            <a:rect r="r" b="b" t="t" l="l"/>
            <a:pathLst>
              <a:path h="6893367" w="5170025">
                <a:moveTo>
                  <a:pt x="0" y="6893366"/>
                </a:moveTo>
                <a:lnTo>
                  <a:pt x="5170025" y="6893366"/>
                </a:lnTo>
                <a:lnTo>
                  <a:pt x="5170025" y="0"/>
                </a:lnTo>
                <a:lnTo>
                  <a:pt x="0" y="0"/>
                </a:lnTo>
                <a:lnTo>
                  <a:pt x="0" y="6893366"/>
                </a:lnTo>
                <a:close/>
              </a:path>
            </a:pathLst>
          </a:custGeom>
          <a:blipFill>
            <a:blip r:embed="rId2"/>
            <a:stretch>
              <a:fillRect l="0" t="0" r="0" b="0"/>
            </a:stretch>
          </a:blipFill>
        </p:spPr>
      </p:sp>
      <p:grpSp>
        <p:nvGrpSpPr>
          <p:cNvPr name="Group 3" id="3"/>
          <p:cNvGrpSpPr>
            <a:grpSpLocks noChangeAspect="true"/>
          </p:cNvGrpSpPr>
          <p:nvPr/>
        </p:nvGrpSpPr>
        <p:grpSpPr>
          <a:xfrm rot="-516213">
            <a:off x="1447070" y="620142"/>
            <a:ext cx="4422113" cy="5575421"/>
            <a:chOff x="0" y="0"/>
            <a:chExt cx="1704340" cy="2148840"/>
          </a:xfrm>
        </p:grpSpPr>
        <p:sp>
          <p:nvSpPr>
            <p:cNvPr name="Freeform 4" id="4"/>
            <p:cNvSpPr/>
            <p:nvPr/>
          </p:nvSpPr>
          <p:spPr>
            <a:xfrm flipH="false" flipV="false" rot="0">
              <a:off x="63500" y="77470"/>
              <a:ext cx="1582420" cy="1645920"/>
            </a:xfrm>
            <a:custGeom>
              <a:avLst/>
              <a:gdLst/>
              <a:ahLst/>
              <a:cxnLst/>
              <a:rect r="r" b="b" t="t" l="l"/>
              <a:pathLst>
                <a:path h="1645920" w="1582420">
                  <a:moveTo>
                    <a:pt x="1582420" y="1645920"/>
                  </a:moveTo>
                  <a:lnTo>
                    <a:pt x="0" y="1645920"/>
                  </a:lnTo>
                  <a:lnTo>
                    <a:pt x="0" y="0"/>
                  </a:lnTo>
                  <a:lnTo>
                    <a:pt x="1582420" y="0"/>
                  </a:lnTo>
                  <a:lnTo>
                    <a:pt x="1582420" y="1645920"/>
                  </a:lnTo>
                  <a:close/>
                </a:path>
              </a:pathLst>
            </a:custGeom>
            <a:blipFill>
              <a:blip r:embed="rId3"/>
              <a:stretch>
                <a:fillRect l="0" t="-2180" r="0" b="-2180"/>
              </a:stretch>
            </a:blipFill>
          </p:spPr>
        </p:sp>
        <p:sp>
          <p:nvSpPr>
            <p:cNvPr name="Freeform 5" id="5"/>
            <p:cNvSpPr/>
            <p:nvPr/>
          </p:nvSpPr>
          <p:spPr>
            <a:xfrm flipH="false" flipV="false" rot="0">
              <a:off x="0" y="0"/>
              <a:ext cx="1704340" cy="2148840"/>
            </a:xfrm>
            <a:custGeom>
              <a:avLst/>
              <a:gdLst/>
              <a:ahLst/>
              <a:cxnLst/>
              <a:rect r="r" b="b" t="t" l="l"/>
              <a:pathLst>
                <a:path h="2148840" w="1704340">
                  <a:moveTo>
                    <a:pt x="1704340" y="2148840"/>
                  </a:moveTo>
                  <a:lnTo>
                    <a:pt x="0" y="2148840"/>
                  </a:lnTo>
                  <a:lnTo>
                    <a:pt x="0" y="0"/>
                  </a:lnTo>
                  <a:lnTo>
                    <a:pt x="1704340" y="0"/>
                  </a:lnTo>
                  <a:lnTo>
                    <a:pt x="1704340" y="2148840"/>
                  </a:lnTo>
                  <a:close/>
                </a:path>
              </a:pathLst>
            </a:custGeom>
            <a:blipFill>
              <a:blip r:embed="rId4"/>
              <a:stretch>
                <a:fillRect l="-74" t="0" r="-74" b="0"/>
              </a:stretch>
            </a:blipFill>
          </p:spPr>
        </p:sp>
      </p:grpSp>
      <p:sp>
        <p:nvSpPr>
          <p:cNvPr name="Freeform 6" id="6"/>
          <p:cNvSpPr/>
          <p:nvPr/>
        </p:nvSpPr>
        <p:spPr>
          <a:xfrm flipH="false" flipV="false" rot="-3351194">
            <a:off x="1055198" y="4932090"/>
            <a:ext cx="3828943" cy="4156248"/>
          </a:xfrm>
          <a:custGeom>
            <a:avLst/>
            <a:gdLst/>
            <a:ahLst/>
            <a:cxnLst/>
            <a:rect r="r" b="b" t="t" l="l"/>
            <a:pathLst>
              <a:path h="4156248" w="3828943">
                <a:moveTo>
                  <a:pt x="0" y="0"/>
                </a:moveTo>
                <a:lnTo>
                  <a:pt x="3828943" y="0"/>
                </a:lnTo>
                <a:lnTo>
                  <a:pt x="3828943" y="4156248"/>
                </a:lnTo>
                <a:lnTo>
                  <a:pt x="0" y="4156248"/>
                </a:lnTo>
                <a:lnTo>
                  <a:pt x="0" y="0"/>
                </a:lnTo>
                <a:close/>
              </a:path>
            </a:pathLst>
          </a:custGeom>
          <a:blipFill>
            <a:blip r:embed="rId5"/>
            <a:stretch>
              <a:fillRect l="0" t="0" r="0" b="0"/>
            </a:stretch>
          </a:blipFill>
        </p:spPr>
      </p:sp>
      <p:grpSp>
        <p:nvGrpSpPr>
          <p:cNvPr name="Group 7" id="7"/>
          <p:cNvGrpSpPr>
            <a:grpSpLocks noChangeAspect="true"/>
          </p:cNvGrpSpPr>
          <p:nvPr/>
        </p:nvGrpSpPr>
        <p:grpSpPr>
          <a:xfrm rot="806753">
            <a:off x="4245739" y="4596866"/>
            <a:ext cx="4422113" cy="5575421"/>
            <a:chOff x="0" y="0"/>
            <a:chExt cx="1704340" cy="2148840"/>
          </a:xfrm>
        </p:grpSpPr>
        <p:sp>
          <p:nvSpPr>
            <p:cNvPr name="Freeform 8" id="8"/>
            <p:cNvSpPr/>
            <p:nvPr/>
          </p:nvSpPr>
          <p:spPr>
            <a:xfrm flipH="false" flipV="false" rot="0">
              <a:off x="63500" y="77470"/>
              <a:ext cx="1582420" cy="1645920"/>
            </a:xfrm>
            <a:custGeom>
              <a:avLst/>
              <a:gdLst/>
              <a:ahLst/>
              <a:cxnLst/>
              <a:rect r="r" b="b" t="t" l="l"/>
              <a:pathLst>
                <a:path h="1645920" w="1582420">
                  <a:moveTo>
                    <a:pt x="1582420" y="1645920"/>
                  </a:moveTo>
                  <a:lnTo>
                    <a:pt x="0" y="1645920"/>
                  </a:lnTo>
                  <a:lnTo>
                    <a:pt x="0" y="0"/>
                  </a:lnTo>
                  <a:lnTo>
                    <a:pt x="1582420" y="0"/>
                  </a:lnTo>
                  <a:lnTo>
                    <a:pt x="1582420" y="1645920"/>
                  </a:lnTo>
                  <a:close/>
                </a:path>
              </a:pathLst>
            </a:custGeom>
            <a:blipFill>
              <a:blip r:embed="rId6"/>
              <a:stretch>
                <a:fillRect l="-9435" t="0" r="-9435" b="0"/>
              </a:stretch>
            </a:blipFill>
          </p:spPr>
        </p:sp>
        <p:sp>
          <p:nvSpPr>
            <p:cNvPr name="Freeform 9" id="9"/>
            <p:cNvSpPr/>
            <p:nvPr/>
          </p:nvSpPr>
          <p:spPr>
            <a:xfrm flipH="false" flipV="false" rot="0">
              <a:off x="0" y="0"/>
              <a:ext cx="1704340" cy="2148840"/>
            </a:xfrm>
            <a:custGeom>
              <a:avLst/>
              <a:gdLst/>
              <a:ahLst/>
              <a:cxnLst/>
              <a:rect r="r" b="b" t="t" l="l"/>
              <a:pathLst>
                <a:path h="2148840" w="1704340">
                  <a:moveTo>
                    <a:pt x="1704340" y="2148840"/>
                  </a:moveTo>
                  <a:lnTo>
                    <a:pt x="0" y="2148840"/>
                  </a:lnTo>
                  <a:lnTo>
                    <a:pt x="0" y="0"/>
                  </a:lnTo>
                  <a:lnTo>
                    <a:pt x="1704340" y="0"/>
                  </a:lnTo>
                  <a:lnTo>
                    <a:pt x="1704340" y="2148840"/>
                  </a:lnTo>
                  <a:close/>
                </a:path>
              </a:pathLst>
            </a:custGeom>
            <a:blipFill>
              <a:blip r:embed="rId4"/>
              <a:stretch>
                <a:fillRect l="-74" t="0" r="-74" b="0"/>
              </a:stretch>
            </a:blipFill>
          </p:spPr>
        </p:sp>
      </p:grpSp>
      <p:sp>
        <p:nvSpPr>
          <p:cNvPr name="Freeform 10" id="10"/>
          <p:cNvSpPr/>
          <p:nvPr/>
        </p:nvSpPr>
        <p:spPr>
          <a:xfrm flipH="true" flipV="true" rot="6015169">
            <a:off x="9519852" y="4356807"/>
            <a:ext cx="5542334" cy="13355022"/>
          </a:xfrm>
          <a:custGeom>
            <a:avLst/>
            <a:gdLst/>
            <a:ahLst/>
            <a:cxnLst/>
            <a:rect r="r" b="b" t="t" l="l"/>
            <a:pathLst>
              <a:path h="13355022" w="5542334">
                <a:moveTo>
                  <a:pt x="5542334" y="13355022"/>
                </a:moveTo>
                <a:lnTo>
                  <a:pt x="0" y="13355022"/>
                </a:lnTo>
                <a:lnTo>
                  <a:pt x="0" y="0"/>
                </a:lnTo>
                <a:lnTo>
                  <a:pt x="5542334" y="0"/>
                </a:lnTo>
                <a:lnTo>
                  <a:pt x="5542334" y="13355022"/>
                </a:lnTo>
                <a:close/>
              </a:path>
            </a:pathLst>
          </a:custGeom>
          <a:blipFill>
            <a:blip r:embed="rId7"/>
            <a:stretch>
              <a:fillRect l="0" t="0" r="0" b="0"/>
            </a:stretch>
          </a:blipFill>
        </p:spPr>
      </p:sp>
      <p:sp>
        <p:nvSpPr>
          <p:cNvPr name="Freeform 11" id="11"/>
          <p:cNvSpPr/>
          <p:nvPr/>
        </p:nvSpPr>
        <p:spPr>
          <a:xfrm flipH="false" flipV="false" rot="0">
            <a:off x="6694464" y="1724727"/>
            <a:ext cx="789532" cy="800059"/>
          </a:xfrm>
          <a:custGeom>
            <a:avLst/>
            <a:gdLst/>
            <a:ahLst/>
            <a:cxnLst/>
            <a:rect r="r" b="b" t="t" l="l"/>
            <a:pathLst>
              <a:path h="800059" w="789532">
                <a:moveTo>
                  <a:pt x="0" y="0"/>
                </a:moveTo>
                <a:lnTo>
                  <a:pt x="789533" y="0"/>
                </a:lnTo>
                <a:lnTo>
                  <a:pt x="789533" y="800060"/>
                </a:lnTo>
                <a:lnTo>
                  <a:pt x="0" y="800060"/>
                </a:lnTo>
                <a:lnTo>
                  <a:pt x="0" y="0"/>
                </a:lnTo>
                <a:close/>
              </a:path>
            </a:pathLst>
          </a:custGeom>
          <a:blipFill>
            <a:blip r:embed="rId8"/>
            <a:stretch>
              <a:fillRect l="0" t="0" r="0" b="0"/>
            </a:stretch>
          </a:blipFill>
        </p:spPr>
      </p:sp>
      <p:sp>
        <p:nvSpPr>
          <p:cNvPr name="Freeform 12" id="12"/>
          <p:cNvSpPr/>
          <p:nvPr/>
        </p:nvSpPr>
        <p:spPr>
          <a:xfrm flipH="true" flipV="false" rot="0">
            <a:off x="1849750" y="8869995"/>
            <a:ext cx="753221" cy="740667"/>
          </a:xfrm>
          <a:custGeom>
            <a:avLst/>
            <a:gdLst/>
            <a:ahLst/>
            <a:cxnLst/>
            <a:rect r="r" b="b" t="t" l="l"/>
            <a:pathLst>
              <a:path h="740667" w="753221">
                <a:moveTo>
                  <a:pt x="753221" y="0"/>
                </a:moveTo>
                <a:lnTo>
                  <a:pt x="0" y="0"/>
                </a:lnTo>
                <a:lnTo>
                  <a:pt x="0" y="740667"/>
                </a:lnTo>
                <a:lnTo>
                  <a:pt x="753221" y="740667"/>
                </a:lnTo>
                <a:lnTo>
                  <a:pt x="753221" y="0"/>
                </a:lnTo>
                <a:close/>
              </a:path>
            </a:pathLst>
          </a:custGeom>
          <a:blipFill>
            <a:blip r:embed="rId9"/>
            <a:stretch>
              <a:fillRect l="0" t="0" r="0" b="0"/>
            </a:stretch>
          </a:blipFill>
        </p:spPr>
      </p:sp>
      <p:sp>
        <p:nvSpPr>
          <p:cNvPr name="Freeform 13" id="13"/>
          <p:cNvSpPr/>
          <p:nvPr/>
        </p:nvSpPr>
        <p:spPr>
          <a:xfrm flipH="false" flipV="false" rot="0">
            <a:off x="7339677" y="3427224"/>
            <a:ext cx="731923" cy="731923"/>
          </a:xfrm>
          <a:custGeom>
            <a:avLst/>
            <a:gdLst/>
            <a:ahLst/>
            <a:cxnLst/>
            <a:rect r="r" b="b" t="t" l="l"/>
            <a:pathLst>
              <a:path h="731923" w="731923">
                <a:moveTo>
                  <a:pt x="0" y="0"/>
                </a:moveTo>
                <a:lnTo>
                  <a:pt x="731923" y="0"/>
                </a:lnTo>
                <a:lnTo>
                  <a:pt x="731923" y="731923"/>
                </a:lnTo>
                <a:lnTo>
                  <a:pt x="0" y="731923"/>
                </a:lnTo>
                <a:lnTo>
                  <a:pt x="0" y="0"/>
                </a:lnTo>
                <a:close/>
              </a:path>
            </a:pathLst>
          </a:custGeom>
          <a:blipFill>
            <a:blip r:embed="rId10"/>
            <a:stretch>
              <a:fillRect l="0" t="0" r="0" b="0"/>
            </a:stretch>
          </a:blipFill>
        </p:spPr>
      </p:sp>
      <p:grpSp>
        <p:nvGrpSpPr>
          <p:cNvPr name="Group 14" id="14"/>
          <p:cNvGrpSpPr/>
          <p:nvPr/>
        </p:nvGrpSpPr>
        <p:grpSpPr>
          <a:xfrm rot="0">
            <a:off x="8285500" y="320745"/>
            <a:ext cx="10002500" cy="2005388"/>
            <a:chOff x="0" y="0"/>
            <a:chExt cx="13336666" cy="2673851"/>
          </a:xfrm>
        </p:grpSpPr>
        <p:sp>
          <p:nvSpPr>
            <p:cNvPr name="Freeform 15" id="15"/>
            <p:cNvSpPr/>
            <p:nvPr/>
          </p:nvSpPr>
          <p:spPr>
            <a:xfrm flipH="false" flipV="true" rot="-142622">
              <a:off x="38378" y="274066"/>
              <a:ext cx="13259911" cy="2125719"/>
            </a:xfrm>
            <a:custGeom>
              <a:avLst/>
              <a:gdLst/>
              <a:ahLst/>
              <a:cxnLst/>
              <a:rect r="r" b="b" t="t" l="l"/>
              <a:pathLst>
                <a:path h="2125719" w="13259911">
                  <a:moveTo>
                    <a:pt x="0" y="2125719"/>
                  </a:moveTo>
                  <a:lnTo>
                    <a:pt x="13259911" y="2125719"/>
                  </a:lnTo>
                  <a:lnTo>
                    <a:pt x="13259911" y="0"/>
                  </a:lnTo>
                  <a:lnTo>
                    <a:pt x="0" y="0"/>
                  </a:lnTo>
                  <a:lnTo>
                    <a:pt x="0" y="2125719"/>
                  </a:lnTo>
                  <a:close/>
                </a:path>
              </a:pathLst>
            </a:custGeom>
            <a:blipFill>
              <a:blip r:embed="rId11"/>
              <a:stretch>
                <a:fillRect l="0" t="-65400" r="0" b="-65400"/>
              </a:stretch>
            </a:blipFill>
          </p:spPr>
        </p:sp>
        <p:sp>
          <p:nvSpPr>
            <p:cNvPr name="TextBox 16" id="16"/>
            <p:cNvSpPr txBox="true"/>
            <p:nvPr/>
          </p:nvSpPr>
          <p:spPr>
            <a:xfrm rot="0">
              <a:off x="2012154" y="655996"/>
              <a:ext cx="9312358" cy="1240258"/>
            </a:xfrm>
            <a:prstGeom prst="rect">
              <a:avLst/>
            </a:prstGeom>
          </p:spPr>
          <p:txBody>
            <a:bodyPr anchor="t" rtlCol="false" tIns="0" lIns="0" bIns="0" rIns="0">
              <a:spAutoFit/>
            </a:bodyPr>
            <a:lstStyle/>
            <a:p>
              <a:pPr algn="ctr" marL="0" indent="0" lvl="0">
                <a:lnSpc>
                  <a:spcPts val="7443"/>
                </a:lnSpc>
                <a:spcBef>
                  <a:spcPct val="0"/>
                </a:spcBef>
              </a:pPr>
              <a:r>
                <a:rPr lang="en-US" sz="4962">
                  <a:solidFill>
                    <a:srgbClr val="000000"/>
                  </a:solidFill>
                  <a:latin typeface="Alegreya Sans"/>
                  <a:ea typeface="Alegreya Sans"/>
                  <a:cs typeface="Alegreya Sans"/>
                  <a:sym typeface="Alegreya Sans"/>
                </a:rPr>
                <a:t>Trường Đại Học Quy Nhơn </a:t>
              </a:r>
            </a:p>
          </p:txBody>
        </p:sp>
      </p:grpSp>
      <p:grpSp>
        <p:nvGrpSpPr>
          <p:cNvPr name="Group 17" id="17"/>
          <p:cNvGrpSpPr/>
          <p:nvPr/>
        </p:nvGrpSpPr>
        <p:grpSpPr>
          <a:xfrm rot="0">
            <a:off x="9144000" y="2574784"/>
            <a:ext cx="8390690" cy="12590421"/>
            <a:chOff x="0" y="0"/>
            <a:chExt cx="11187587" cy="16787229"/>
          </a:xfrm>
        </p:grpSpPr>
        <p:sp>
          <p:nvSpPr>
            <p:cNvPr name="TextBox 18" id="18"/>
            <p:cNvSpPr txBox="true"/>
            <p:nvPr/>
          </p:nvSpPr>
          <p:spPr>
            <a:xfrm rot="0">
              <a:off x="0" y="16546091"/>
              <a:ext cx="11187587" cy="241137"/>
            </a:xfrm>
            <a:prstGeom prst="rect">
              <a:avLst/>
            </a:prstGeom>
          </p:spPr>
          <p:txBody>
            <a:bodyPr anchor="t" rtlCol="false" tIns="0" lIns="0" bIns="0" rIns="0">
              <a:spAutoFit/>
            </a:bodyPr>
            <a:lstStyle/>
            <a:p>
              <a:pPr algn="l">
                <a:lnSpc>
                  <a:spcPts val="1361"/>
                </a:lnSpc>
              </a:pPr>
              <a:r>
                <a:rPr lang="en-US" sz="972">
                  <a:solidFill>
                    <a:srgbClr val="000000"/>
                  </a:solidFill>
                  <a:latin typeface="Alegreya Sans"/>
                  <a:ea typeface="Alegreya Sans"/>
                  <a:cs typeface="Alegreya Sans"/>
                  <a:sym typeface="Alegreya Sans"/>
                </a:rPr>
                <a:t>Anh ấy có thể xuất hiện trên mọi trang bìa tạp chí và tôi sẽ mua tất cả.</a:t>
              </a:r>
            </a:p>
          </p:txBody>
        </p:sp>
        <p:sp>
          <p:nvSpPr>
            <p:cNvPr name="TextBox 19" id="19"/>
            <p:cNvSpPr txBox="true"/>
            <p:nvPr/>
          </p:nvSpPr>
          <p:spPr>
            <a:xfrm rot="0">
              <a:off x="0" y="-47625"/>
              <a:ext cx="11187587" cy="16496529"/>
            </a:xfrm>
            <a:prstGeom prst="rect">
              <a:avLst/>
            </a:prstGeom>
          </p:spPr>
          <p:txBody>
            <a:bodyPr anchor="t" rtlCol="false" tIns="0" lIns="0" bIns="0" rIns="0">
              <a:spAutoFit/>
            </a:bodyPr>
            <a:lstStyle/>
            <a:p>
              <a:pPr algn="l">
                <a:lnSpc>
                  <a:spcPts val="2279"/>
                </a:lnSpc>
              </a:pPr>
              <a:r>
                <a:rPr lang="en-US" sz="1823" b="true">
                  <a:solidFill>
                    <a:srgbClr val="000000"/>
                  </a:solidFill>
                  <a:latin typeface="Alegreya Sans Bold"/>
                  <a:ea typeface="Alegreya Sans Bold"/>
                  <a:cs typeface="Alegreya Sans Bold"/>
                  <a:sym typeface="Alegreya Sans Bold"/>
                </a:rPr>
                <a:t>Trường Đại học Quy Nhơn (QNU) là trường đại học công lập đa ngành, xếp hạng 18 trong Top 100 trường ĐH Việt Nam năm 2023, tọa lạc tại TP. Quy Nhơn, Bình Định. Trường đào tạo gần 16.000 sinh viên chính quy với 12 khoa, bao gồm các lĩnh vực sư phạm, kỹ thuật, kinh tế và khoa học xã hội. QNU hướng tới đạt chuẩn chất lượng Đông Nam Á vào năm 2030</a:t>
              </a:r>
            </a:p>
            <a:p>
              <a:pPr algn="l">
                <a:lnSpc>
                  <a:spcPts val="2279"/>
                </a:lnSpc>
              </a:pPr>
              <a:r>
                <a:rPr lang="en-US" sz="1823" b="true">
                  <a:solidFill>
                    <a:srgbClr val="000000"/>
                  </a:solidFill>
                  <a:latin typeface="Alegreya Sans Bold"/>
                  <a:ea typeface="Alegreya Sans Bold"/>
                  <a:cs typeface="Alegreya Sans Bold"/>
                  <a:sym typeface="Alegreya Sans Bold"/>
                </a:rPr>
                <a:t>Tổ hợp môn xét tuyểnTổ hợp môn xét tuyển</a:t>
              </a:r>
            </a:p>
            <a:p>
              <a:pPr algn="l">
                <a:lnSpc>
                  <a:spcPts val="2279"/>
                </a:lnSpc>
              </a:pPr>
              <a:r>
                <a:rPr lang="en-US" sz="1823" b="true">
                  <a:solidFill>
                    <a:srgbClr val="000000"/>
                  </a:solidFill>
                  <a:latin typeface="Alegreya Sans Bold"/>
                  <a:ea typeface="Alegreya Sans Bold"/>
                  <a:cs typeface="Alegreya Sans Bold"/>
                  <a:sym typeface="Alegreya Sans Bold"/>
                </a:rPr>
                <a:t>Trường sử dụng các tổ hợp môn phổ biến để xét tuyển ngành này: </a:t>
              </a:r>
            </a:p>
            <a:p>
              <a:pPr algn="l">
                <a:lnSpc>
                  <a:spcPts val="2279"/>
                </a:lnSpc>
              </a:pPr>
              <a:r>
                <a:rPr lang="en-US" sz="1823" b="true">
                  <a:solidFill>
                    <a:srgbClr val="000000"/>
                  </a:solidFill>
                  <a:latin typeface="Alegreya Sans Bold"/>
                  <a:ea typeface="Alegreya Sans Bold"/>
                  <a:cs typeface="Alegreya Sans Bold"/>
                  <a:sym typeface="Alegreya Sans Bold"/>
                </a:rPr>
                <a:t>Báo VietNamNet +1</a:t>
              </a:r>
            </a:p>
            <a:p>
              <a:pPr algn="l" marL="393716" indent="-196858" lvl="1">
                <a:lnSpc>
                  <a:spcPts val="2279"/>
                </a:lnSpc>
                <a:buFont typeface="Arial"/>
                <a:buChar char="•"/>
              </a:pPr>
              <a:r>
                <a:rPr lang="en-US" b="true" sz="1823">
                  <a:solidFill>
                    <a:srgbClr val="000000"/>
                  </a:solidFill>
                  <a:latin typeface="Alegreya Sans Bold"/>
                  <a:ea typeface="Alegreya Sans Bold"/>
                  <a:cs typeface="Alegreya Sans Bold"/>
                  <a:sym typeface="Alegreya Sans Bold"/>
                </a:rPr>
                <a:t>A00: Toán, Vật lý, Hóa học</a:t>
              </a:r>
            </a:p>
            <a:p>
              <a:pPr algn="l" marL="393716" indent="-196858" lvl="1">
                <a:lnSpc>
                  <a:spcPts val="2279"/>
                </a:lnSpc>
                <a:buFont typeface="Arial"/>
                <a:buChar char="•"/>
              </a:pPr>
              <a:r>
                <a:rPr lang="en-US" b="true" sz="1823">
                  <a:solidFill>
                    <a:srgbClr val="000000"/>
                  </a:solidFill>
                  <a:latin typeface="Alegreya Sans Bold"/>
                  <a:ea typeface="Alegreya Sans Bold"/>
                  <a:cs typeface="Alegreya Sans Bold"/>
                  <a:sym typeface="Alegreya Sans Bold"/>
                </a:rPr>
                <a:t>A01: Toán, Vật lý, Tiếng Anh</a:t>
              </a:r>
            </a:p>
            <a:p>
              <a:pPr algn="l" marL="393716" indent="-196858" lvl="1">
                <a:lnSpc>
                  <a:spcPts val="2279"/>
                </a:lnSpc>
                <a:buFont typeface="Arial"/>
                <a:buChar char="•"/>
              </a:pPr>
              <a:r>
                <a:rPr lang="en-US" b="true" sz="1823">
                  <a:solidFill>
                    <a:srgbClr val="000000"/>
                  </a:solidFill>
                  <a:latin typeface="Alegreya Sans Bold"/>
                  <a:ea typeface="Alegreya Sans Bold"/>
                  <a:cs typeface="Alegreya Sans Bold"/>
                  <a:sym typeface="Alegreya Sans Bold"/>
                </a:rPr>
                <a:t>C00: Ngữ văn, Lịch sử, Địa lý</a:t>
              </a:r>
            </a:p>
            <a:p>
              <a:pPr algn="l" marL="393716" indent="-196858" lvl="1">
                <a:lnSpc>
                  <a:spcPts val="2279"/>
                </a:lnSpc>
                <a:buFont typeface="Arial"/>
                <a:buChar char="•"/>
              </a:pPr>
              <a:r>
                <a:rPr lang="en-US" b="true" sz="1823">
                  <a:solidFill>
                    <a:srgbClr val="000000"/>
                  </a:solidFill>
                  <a:latin typeface="Alegreya Sans Bold"/>
                  <a:ea typeface="Alegreya Sans Bold"/>
                  <a:cs typeface="Alegreya Sans Bold"/>
                  <a:sym typeface="Alegreya Sans Bold"/>
                </a:rPr>
                <a:t>D01: Ngữ văn, Toán, Tiếng Anh</a:t>
              </a:r>
            </a:p>
            <a:p>
              <a:pPr algn="l">
                <a:lnSpc>
                  <a:spcPts val="2279"/>
                </a:lnSpc>
              </a:pPr>
            </a:p>
            <a:p>
              <a:pPr algn="l">
                <a:lnSpc>
                  <a:spcPts val="2279"/>
                </a:lnSpc>
              </a:pPr>
              <a:r>
                <a:rPr lang="en-US" sz="1823" b="true">
                  <a:solidFill>
                    <a:srgbClr val="000000"/>
                  </a:solidFill>
                  <a:latin typeface="Alegreya Sans Bold"/>
                  <a:ea typeface="Alegreya Sans Bold"/>
                  <a:cs typeface="Alegreya Sans Bold"/>
                  <a:sym typeface="Alegreya Sans Bold"/>
                </a:rPr>
                <a:t>2. Điểm chuẩn (Phương thức xét điểm thi THPT)</a:t>
              </a:r>
            </a:p>
            <a:p>
              <a:pPr algn="l">
                <a:lnSpc>
                  <a:spcPts val="2279"/>
                </a:lnSpc>
              </a:pPr>
              <a:r>
                <a:rPr lang="en-US" sz="1823" b="true">
                  <a:solidFill>
                    <a:srgbClr val="000000"/>
                  </a:solidFill>
                  <a:latin typeface="Alegreya Sans Bold"/>
                  <a:ea typeface="Alegreya Sans Bold"/>
                  <a:cs typeface="Alegreya Sans Bold"/>
                  <a:sym typeface="Alegreya Sans Bold"/>
                </a:rPr>
                <a:t>Điểm chuẩn ngành Giáo dục Tiểu học tại QNU có xu hướng ổn định ở mức cao (thang điểm 30): </a:t>
              </a:r>
            </a:p>
            <a:p>
              <a:pPr algn="l">
                <a:lnSpc>
                  <a:spcPts val="2279"/>
                </a:lnSpc>
              </a:pPr>
              <a:r>
                <a:rPr lang="en-US" sz="1823" b="true">
                  <a:solidFill>
                    <a:srgbClr val="000000"/>
                  </a:solidFill>
                  <a:latin typeface="Alegreya Sans Bold"/>
                  <a:ea typeface="Alegreya Sans Bold"/>
                  <a:cs typeface="Alegreya Sans Bold"/>
                  <a:sym typeface="Alegreya Sans Bold"/>
                </a:rPr>
                <a:t>Báo VietNamNet +1</a:t>
              </a:r>
            </a:p>
            <a:p>
              <a:pPr algn="l">
                <a:lnSpc>
                  <a:spcPts val="2279"/>
                </a:lnSpc>
              </a:pPr>
            </a:p>
            <a:p>
              <a:pPr algn="l">
                <a:lnSpc>
                  <a:spcPts val="2279"/>
                </a:lnSpc>
              </a:pPr>
              <a:r>
                <a:rPr lang="en-US" sz="1823" b="true">
                  <a:solidFill>
                    <a:srgbClr val="000000"/>
                  </a:solidFill>
                  <a:latin typeface="Alegreya Sans Bold"/>
                  <a:ea typeface="Alegreya Sans Bold"/>
                  <a:cs typeface="Alegreya Sans Bold"/>
                  <a:sym typeface="Alegreya Sans Bold"/>
                </a:rPr>
                <a:t>Năm Điểm chuẩnGhi chú</a:t>
              </a:r>
            </a:p>
            <a:p>
              <a:pPr algn="l">
                <a:lnSpc>
                  <a:spcPts val="2279"/>
                </a:lnSpc>
              </a:pPr>
              <a:r>
                <a:rPr lang="en-US" sz="1823" b="true">
                  <a:solidFill>
                    <a:srgbClr val="000000"/>
                  </a:solidFill>
                  <a:latin typeface="Alegreya Sans Bold"/>
                  <a:ea typeface="Alegreya Sans Bold"/>
                  <a:cs typeface="Alegreya Sans Bold"/>
                  <a:sym typeface="Alegreya Sans Bold"/>
                </a:rPr>
                <a:t>2025</a:t>
              </a:r>
            </a:p>
            <a:p>
              <a:pPr algn="l">
                <a:lnSpc>
                  <a:spcPts val="2279"/>
                </a:lnSpc>
              </a:pPr>
              <a:r>
                <a:rPr lang="en-US" sz="1823" b="true">
                  <a:solidFill>
                    <a:srgbClr val="000000"/>
                  </a:solidFill>
                  <a:latin typeface="Alegreya Sans Bold"/>
                  <a:ea typeface="Alegreya Sans Bold"/>
                  <a:cs typeface="Alegreya Sans Bold"/>
                  <a:sym typeface="Alegreya Sans Bold"/>
                </a:rPr>
                <a:t>26,90</a:t>
              </a:r>
            </a:p>
            <a:p>
              <a:pPr algn="l">
                <a:lnSpc>
                  <a:spcPts val="2279"/>
                </a:lnSpc>
              </a:pPr>
              <a:r>
                <a:rPr lang="en-US" sz="1823" b="true">
                  <a:solidFill>
                    <a:srgbClr val="000000"/>
                  </a:solidFill>
                  <a:latin typeface="Alegreya Sans Bold"/>
                  <a:ea typeface="Alegreya Sans Bold"/>
                  <a:cs typeface="Alegreya Sans Bold"/>
                  <a:sym typeface="Alegreya Sans Bold"/>
                </a:rPr>
                <a:t>Dựa trên kết quả kỳ thi tốt nghiệp THPT</a:t>
              </a:r>
            </a:p>
            <a:p>
              <a:pPr algn="l">
                <a:lnSpc>
                  <a:spcPts val="2279"/>
                </a:lnSpc>
              </a:pPr>
              <a:r>
                <a:rPr lang="en-US" sz="1823" b="true">
                  <a:solidFill>
                    <a:srgbClr val="000000"/>
                  </a:solidFill>
                  <a:latin typeface="Alegreya Sans Bold"/>
                  <a:ea typeface="Alegreya Sans Bold"/>
                  <a:cs typeface="Alegreya Sans Bold"/>
                  <a:sym typeface="Alegreya Sans Bold"/>
                </a:rPr>
                <a:t>2024</a:t>
              </a:r>
            </a:p>
            <a:p>
              <a:pPr algn="l">
                <a:lnSpc>
                  <a:spcPts val="2279"/>
                </a:lnSpc>
              </a:pPr>
              <a:r>
                <a:rPr lang="en-US" sz="1823" b="true">
                  <a:solidFill>
                    <a:srgbClr val="000000"/>
                  </a:solidFill>
                  <a:latin typeface="Alegreya Sans Bold"/>
                  <a:ea typeface="Alegreya Sans Bold"/>
                  <a:cs typeface="Alegreya Sans Bold"/>
                  <a:sym typeface="Alegreya Sans Bold"/>
                </a:rPr>
                <a:t>26,95</a:t>
              </a:r>
            </a:p>
            <a:p>
              <a:pPr algn="l">
                <a:lnSpc>
                  <a:spcPts val="2279"/>
                </a:lnSpc>
              </a:pPr>
              <a:r>
                <a:rPr lang="en-US" sz="1823" b="true">
                  <a:solidFill>
                    <a:srgbClr val="000000"/>
                  </a:solidFill>
                  <a:latin typeface="Alegreya Sans Bold"/>
                  <a:ea typeface="Alegreya Sans Bold"/>
                  <a:cs typeface="Alegreya Sans Bold"/>
                  <a:sym typeface="Alegreya Sans Bold"/>
                </a:rPr>
                <a:t>Một trong những ngành có điểm cao nhất trường</a:t>
              </a: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a:p>
              <a:pPr algn="l">
                <a:lnSpc>
                  <a:spcPts val="227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4C8C0"/>
        </a:solidFill>
      </p:bgPr>
    </p:bg>
    <p:spTree>
      <p:nvGrpSpPr>
        <p:cNvPr id="1" name=""/>
        <p:cNvGrpSpPr/>
        <p:nvPr/>
      </p:nvGrpSpPr>
      <p:grpSpPr>
        <a:xfrm>
          <a:off x="0" y="0"/>
          <a:ext cx="0" cy="0"/>
          <a:chOff x="0" y="0"/>
          <a:chExt cx="0" cy="0"/>
        </a:xfrm>
      </p:grpSpPr>
      <p:sp>
        <p:nvSpPr>
          <p:cNvPr name="Freeform 2" id="2"/>
          <p:cNvSpPr/>
          <p:nvPr/>
        </p:nvSpPr>
        <p:spPr>
          <a:xfrm flipH="false" flipV="true" rot="3914628">
            <a:off x="11490567" y="4923618"/>
            <a:ext cx="5170025" cy="6893367"/>
          </a:xfrm>
          <a:custGeom>
            <a:avLst/>
            <a:gdLst/>
            <a:ahLst/>
            <a:cxnLst/>
            <a:rect r="r" b="b" t="t" l="l"/>
            <a:pathLst>
              <a:path h="6893367" w="5170025">
                <a:moveTo>
                  <a:pt x="0" y="6893367"/>
                </a:moveTo>
                <a:lnTo>
                  <a:pt x="5170025" y="6893367"/>
                </a:lnTo>
                <a:lnTo>
                  <a:pt x="5170025" y="0"/>
                </a:lnTo>
                <a:lnTo>
                  <a:pt x="0" y="0"/>
                </a:lnTo>
                <a:lnTo>
                  <a:pt x="0" y="6893367"/>
                </a:lnTo>
                <a:close/>
              </a:path>
            </a:pathLst>
          </a:custGeom>
          <a:blipFill>
            <a:blip r:embed="rId2"/>
            <a:stretch>
              <a:fillRect l="0" t="0" r="0" b="0"/>
            </a:stretch>
          </a:blipFill>
        </p:spPr>
      </p:sp>
      <p:sp>
        <p:nvSpPr>
          <p:cNvPr name="Freeform 3" id="3"/>
          <p:cNvSpPr/>
          <p:nvPr/>
        </p:nvSpPr>
        <p:spPr>
          <a:xfrm flipH="false" flipV="false" rot="6143375">
            <a:off x="11310562" y="-2633645"/>
            <a:ext cx="5170025" cy="6893367"/>
          </a:xfrm>
          <a:custGeom>
            <a:avLst/>
            <a:gdLst/>
            <a:ahLst/>
            <a:cxnLst/>
            <a:rect r="r" b="b" t="t" l="l"/>
            <a:pathLst>
              <a:path h="6893367" w="5170025">
                <a:moveTo>
                  <a:pt x="0" y="0"/>
                </a:moveTo>
                <a:lnTo>
                  <a:pt x="5170025" y="0"/>
                </a:lnTo>
                <a:lnTo>
                  <a:pt x="5170025" y="6893367"/>
                </a:lnTo>
                <a:lnTo>
                  <a:pt x="0" y="6893367"/>
                </a:lnTo>
                <a:lnTo>
                  <a:pt x="0" y="0"/>
                </a:lnTo>
                <a:close/>
              </a:path>
            </a:pathLst>
          </a:custGeom>
          <a:blipFill>
            <a:blip r:embed="rId2"/>
            <a:stretch>
              <a:fillRect l="0" t="0" r="0" b="0"/>
            </a:stretch>
          </a:blipFill>
        </p:spPr>
      </p:sp>
      <p:grpSp>
        <p:nvGrpSpPr>
          <p:cNvPr name="Group 4" id="4"/>
          <p:cNvGrpSpPr>
            <a:grpSpLocks noChangeAspect="true"/>
          </p:cNvGrpSpPr>
          <p:nvPr/>
        </p:nvGrpSpPr>
        <p:grpSpPr>
          <a:xfrm rot="-437816">
            <a:off x="12182609" y="66027"/>
            <a:ext cx="5397327" cy="4285966"/>
            <a:chOff x="0" y="0"/>
            <a:chExt cx="13754100" cy="10922000"/>
          </a:xfrm>
        </p:grpSpPr>
        <p:sp>
          <p:nvSpPr>
            <p:cNvPr name="Freeform 5" id="5"/>
            <p:cNvSpPr/>
            <p:nvPr/>
          </p:nvSpPr>
          <p:spPr>
            <a:xfrm flipH="false" flipV="false" rot="0">
              <a:off x="673100" y="977900"/>
              <a:ext cx="12344400" cy="7772400"/>
            </a:xfrm>
            <a:custGeom>
              <a:avLst/>
              <a:gdLst/>
              <a:ahLst/>
              <a:cxnLst/>
              <a:rect r="r" b="b" t="t" l="l"/>
              <a:pathLst>
                <a:path h="7772400" w="12344400">
                  <a:moveTo>
                    <a:pt x="0" y="0"/>
                  </a:moveTo>
                  <a:lnTo>
                    <a:pt x="12344400" y="0"/>
                  </a:lnTo>
                  <a:lnTo>
                    <a:pt x="12344400" y="7772400"/>
                  </a:lnTo>
                  <a:lnTo>
                    <a:pt x="0" y="7772400"/>
                  </a:lnTo>
                  <a:close/>
                </a:path>
              </a:pathLst>
            </a:custGeom>
            <a:blipFill>
              <a:blip r:embed="rId3"/>
              <a:stretch>
                <a:fillRect l="0" t="-9486" r="0" b="-9486"/>
              </a:stretch>
            </a:blipFill>
          </p:spPr>
        </p:sp>
        <p:sp>
          <p:nvSpPr>
            <p:cNvPr name="Freeform 6" id="6"/>
            <p:cNvSpPr/>
            <p:nvPr/>
          </p:nvSpPr>
          <p:spPr>
            <a:xfrm flipH="false" flipV="false" rot="0">
              <a:off x="0" y="0"/>
              <a:ext cx="13754100" cy="10922000"/>
            </a:xfrm>
            <a:custGeom>
              <a:avLst/>
              <a:gdLst/>
              <a:ahLst/>
              <a:cxnLst/>
              <a:rect r="r" b="b" t="t" l="l"/>
              <a:pathLst>
                <a:path h="10922000" w="13754100">
                  <a:moveTo>
                    <a:pt x="0" y="0"/>
                  </a:moveTo>
                  <a:lnTo>
                    <a:pt x="13754100" y="0"/>
                  </a:lnTo>
                  <a:lnTo>
                    <a:pt x="13754100" y="10922000"/>
                  </a:lnTo>
                  <a:lnTo>
                    <a:pt x="0" y="10922000"/>
                  </a:lnTo>
                  <a:close/>
                </a:path>
              </a:pathLst>
            </a:custGeom>
            <a:blipFill>
              <a:blip r:embed="rId4"/>
              <a:stretch>
                <a:fillRect l="-179" t="0" r="-179" b="0"/>
              </a:stretch>
            </a:blipFill>
          </p:spPr>
        </p:sp>
      </p:grpSp>
      <p:sp>
        <p:nvSpPr>
          <p:cNvPr name="Freeform 7" id="7"/>
          <p:cNvSpPr/>
          <p:nvPr/>
        </p:nvSpPr>
        <p:spPr>
          <a:xfrm flipH="true" flipV="false" rot="1369113">
            <a:off x="13494275" y="3596261"/>
            <a:ext cx="5144039" cy="4700366"/>
          </a:xfrm>
          <a:custGeom>
            <a:avLst/>
            <a:gdLst/>
            <a:ahLst/>
            <a:cxnLst/>
            <a:rect r="r" b="b" t="t" l="l"/>
            <a:pathLst>
              <a:path h="4700366" w="5144039">
                <a:moveTo>
                  <a:pt x="5144039" y="0"/>
                </a:moveTo>
                <a:lnTo>
                  <a:pt x="0" y="0"/>
                </a:lnTo>
                <a:lnTo>
                  <a:pt x="0" y="4700366"/>
                </a:lnTo>
                <a:lnTo>
                  <a:pt x="5144039" y="4700366"/>
                </a:lnTo>
                <a:lnTo>
                  <a:pt x="5144039" y="0"/>
                </a:lnTo>
                <a:close/>
              </a:path>
            </a:pathLst>
          </a:custGeom>
          <a:blipFill>
            <a:blip r:embed="rId5"/>
            <a:stretch>
              <a:fillRect l="0" t="0" r="0" b="0"/>
            </a:stretch>
          </a:blipFill>
        </p:spPr>
      </p:sp>
      <p:grpSp>
        <p:nvGrpSpPr>
          <p:cNvPr name="Group 8" id="8"/>
          <p:cNvGrpSpPr>
            <a:grpSpLocks noChangeAspect="true"/>
          </p:cNvGrpSpPr>
          <p:nvPr/>
        </p:nvGrpSpPr>
        <p:grpSpPr>
          <a:xfrm rot="595475">
            <a:off x="10085470" y="6009254"/>
            <a:ext cx="5397327" cy="4285966"/>
            <a:chOff x="0" y="0"/>
            <a:chExt cx="13754100" cy="10922000"/>
          </a:xfrm>
        </p:grpSpPr>
        <p:sp>
          <p:nvSpPr>
            <p:cNvPr name="Freeform 9" id="9"/>
            <p:cNvSpPr/>
            <p:nvPr/>
          </p:nvSpPr>
          <p:spPr>
            <a:xfrm flipH="false" flipV="false" rot="0">
              <a:off x="673100" y="977900"/>
              <a:ext cx="12344400" cy="7772400"/>
            </a:xfrm>
            <a:custGeom>
              <a:avLst/>
              <a:gdLst/>
              <a:ahLst/>
              <a:cxnLst/>
              <a:rect r="r" b="b" t="t" l="l"/>
              <a:pathLst>
                <a:path h="7772400" w="12344400">
                  <a:moveTo>
                    <a:pt x="0" y="0"/>
                  </a:moveTo>
                  <a:lnTo>
                    <a:pt x="12344400" y="0"/>
                  </a:lnTo>
                  <a:lnTo>
                    <a:pt x="12344400" y="7772400"/>
                  </a:lnTo>
                  <a:lnTo>
                    <a:pt x="0" y="7772400"/>
                  </a:lnTo>
                  <a:close/>
                </a:path>
              </a:pathLst>
            </a:custGeom>
            <a:blipFill>
              <a:blip r:embed="rId6"/>
              <a:stretch>
                <a:fillRect l="0" t="-9558" r="0" b="-9558"/>
              </a:stretch>
            </a:blipFill>
          </p:spPr>
        </p:sp>
        <p:sp>
          <p:nvSpPr>
            <p:cNvPr name="Freeform 10" id="10"/>
            <p:cNvSpPr/>
            <p:nvPr/>
          </p:nvSpPr>
          <p:spPr>
            <a:xfrm flipH="false" flipV="false" rot="0">
              <a:off x="0" y="0"/>
              <a:ext cx="13754100" cy="10922000"/>
            </a:xfrm>
            <a:custGeom>
              <a:avLst/>
              <a:gdLst/>
              <a:ahLst/>
              <a:cxnLst/>
              <a:rect r="r" b="b" t="t" l="l"/>
              <a:pathLst>
                <a:path h="10922000" w="13754100">
                  <a:moveTo>
                    <a:pt x="0" y="0"/>
                  </a:moveTo>
                  <a:lnTo>
                    <a:pt x="13754100" y="0"/>
                  </a:lnTo>
                  <a:lnTo>
                    <a:pt x="13754100" y="10922000"/>
                  </a:lnTo>
                  <a:lnTo>
                    <a:pt x="0" y="10922000"/>
                  </a:lnTo>
                  <a:close/>
                </a:path>
              </a:pathLst>
            </a:custGeom>
            <a:blipFill>
              <a:blip r:embed="rId4"/>
              <a:stretch>
                <a:fillRect l="-179" t="0" r="-179" b="0"/>
              </a:stretch>
            </a:blipFill>
          </p:spPr>
        </p:sp>
      </p:grpSp>
      <p:sp>
        <p:nvSpPr>
          <p:cNvPr name="Freeform 11" id="11"/>
          <p:cNvSpPr/>
          <p:nvPr/>
        </p:nvSpPr>
        <p:spPr>
          <a:xfrm flipH="false" flipV="false" rot="503882">
            <a:off x="-830090" y="8716270"/>
            <a:ext cx="7933554" cy="2856079"/>
          </a:xfrm>
          <a:custGeom>
            <a:avLst/>
            <a:gdLst/>
            <a:ahLst/>
            <a:cxnLst/>
            <a:rect r="r" b="b" t="t" l="l"/>
            <a:pathLst>
              <a:path h="2856079" w="7933554">
                <a:moveTo>
                  <a:pt x="0" y="0"/>
                </a:moveTo>
                <a:lnTo>
                  <a:pt x="7933554" y="0"/>
                </a:lnTo>
                <a:lnTo>
                  <a:pt x="7933554" y="2856079"/>
                </a:lnTo>
                <a:lnTo>
                  <a:pt x="0" y="2856079"/>
                </a:lnTo>
                <a:lnTo>
                  <a:pt x="0" y="0"/>
                </a:lnTo>
                <a:close/>
              </a:path>
            </a:pathLst>
          </a:custGeom>
          <a:blipFill>
            <a:blip r:embed="rId7"/>
            <a:stretch>
              <a:fillRect l="0" t="0" r="0" b="0"/>
            </a:stretch>
          </a:blipFill>
        </p:spPr>
      </p:sp>
      <p:sp>
        <p:nvSpPr>
          <p:cNvPr name="Freeform 12" id="12"/>
          <p:cNvSpPr/>
          <p:nvPr/>
        </p:nvSpPr>
        <p:spPr>
          <a:xfrm flipH="false" flipV="false" rot="0">
            <a:off x="16066295" y="8740232"/>
            <a:ext cx="739861" cy="739861"/>
          </a:xfrm>
          <a:custGeom>
            <a:avLst/>
            <a:gdLst/>
            <a:ahLst/>
            <a:cxnLst/>
            <a:rect r="r" b="b" t="t" l="l"/>
            <a:pathLst>
              <a:path h="739861" w="739861">
                <a:moveTo>
                  <a:pt x="0" y="0"/>
                </a:moveTo>
                <a:lnTo>
                  <a:pt x="739860" y="0"/>
                </a:lnTo>
                <a:lnTo>
                  <a:pt x="739860" y="739860"/>
                </a:lnTo>
                <a:lnTo>
                  <a:pt x="0" y="739860"/>
                </a:lnTo>
                <a:lnTo>
                  <a:pt x="0" y="0"/>
                </a:lnTo>
                <a:close/>
              </a:path>
            </a:pathLst>
          </a:custGeom>
          <a:blipFill>
            <a:blip r:embed="rId8"/>
            <a:stretch>
              <a:fillRect l="0" t="0" r="0" b="0"/>
            </a:stretch>
          </a:blipFill>
        </p:spPr>
      </p:sp>
      <p:sp>
        <p:nvSpPr>
          <p:cNvPr name="Freeform 13" id="13"/>
          <p:cNvSpPr/>
          <p:nvPr/>
        </p:nvSpPr>
        <p:spPr>
          <a:xfrm flipH="false" flipV="false" rot="298433">
            <a:off x="10942410" y="2243164"/>
            <a:ext cx="820267" cy="831204"/>
          </a:xfrm>
          <a:custGeom>
            <a:avLst/>
            <a:gdLst/>
            <a:ahLst/>
            <a:cxnLst/>
            <a:rect r="r" b="b" t="t" l="l"/>
            <a:pathLst>
              <a:path h="831204" w="820267">
                <a:moveTo>
                  <a:pt x="0" y="0"/>
                </a:moveTo>
                <a:lnTo>
                  <a:pt x="820266" y="0"/>
                </a:lnTo>
                <a:lnTo>
                  <a:pt x="820266" y="831203"/>
                </a:lnTo>
                <a:lnTo>
                  <a:pt x="0" y="831203"/>
                </a:lnTo>
                <a:lnTo>
                  <a:pt x="0" y="0"/>
                </a:lnTo>
                <a:close/>
              </a:path>
            </a:pathLst>
          </a:custGeom>
          <a:blipFill>
            <a:blip r:embed="rId9"/>
            <a:stretch>
              <a:fillRect l="0" t="0" r="0" b="0"/>
            </a:stretch>
          </a:blipFill>
        </p:spPr>
      </p:sp>
      <p:sp>
        <p:nvSpPr>
          <p:cNvPr name="TextBox 14" id="14"/>
          <p:cNvSpPr txBox="true"/>
          <p:nvPr/>
        </p:nvSpPr>
        <p:spPr>
          <a:xfrm rot="0">
            <a:off x="-4563288" y="209745"/>
            <a:ext cx="17686084" cy="1314059"/>
          </a:xfrm>
          <a:prstGeom prst="rect">
            <a:avLst/>
          </a:prstGeom>
        </p:spPr>
        <p:txBody>
          <a:bodyPr anchor="t" rtlCol="false" tIns="0" lIns="0" bIns="0" rIns="0">
            <a:spAutoFit/>
          </a:bodyPr>
          <a:lstStyle/>
          <a:p>
            <a:pPr algn="ctr" marL="0" indent="0" lvl="0">
              <a:lnSpc>
                <a:spcPts val="9901"/>
              </a:lnSpc>
              <a:spcBef>
                <a:spcPct val="0"/>
              </a:spcBef>
            </a:pPr>
            <a:r>
              <a:rPr lang="en-US" sz="6600">
                <a:solidFill>
                  <a:srgbClr val="000000"/>
                </a:solidFill>
                <a:latin typeface="Alegreya Sans"/>
                <a:ea typeface="Alegreya Sans"/>
                <a:cs typeface="Alegreya Sans"/>
                <a:sym typeface="Alegreya Sans"/>
              </a:rPr>
              <a:t>Trường Đại học Đà Lạt </a:t>
            </a:r>
          </a:p>
        </p:txBody>
      </p:sp>
      <p:sp>
        <p:nvSpPr>
          <p:cNvPr name="Freeform 15" id="15"/>
          <p:cNvSpPr/>
          <p:nvPr/>
        </p:nvSpPr>
        <p:spPr>
          <a:xfrm flipH="true" flipV="false" rot="1556872">
            <a:off x="9486549" y="7641967"/>
            <a:ext cx="753221" cy="740667"/>
          </a:xfrm>
          <a:custGeom>
            <a:avLst/>
            <a:gdLst/>
            <a:ahLst/>
            <a:cxnLst/>
            <a:rect r="r" b="b" t="t" l="l"/>
            <a:pathLst>
              <a:path h="740667" w="753221">
                <a:moveTo>
                  <a:pt x="753221" y="0"/>
                </a:moveTo>
                <a:lnTo>
                  <a:pt x="0" y="0"/>
                </a:lnTo>
                <a:lnTo>
                  <a:pt x="0" y="740667"/>
                </a:lnTo>
                <a:lnTo>
                  <a:pt x="753221" y="740667"/>
                </a:lnTo>
                <a:lnTo>
                  <a:pt x="753221" y="0"/>
                </a:lnTo>
                <a:close/>
              </a:path>
            </a:pathLst>
          </a:custGeom>
          <a:blipFill>
            <a:blip r:embed="rId10"/>
            <a:stretch>
              <a:fillRect l="0" t="0" r="0" b="0"/>
            </a:stretch>
          </a:blipFill>
        </p:spPr>
      </p:sp>
      <p:grpSp>
        <p:nvGrpSpPr>
          <p:cNvPr name="Group 16" id="16"/>
          <p:cNvGrpSpPr/>
          <p:nvPr/>
        </p:nvGrpSpPr>
        <p:grpSpPr>
          <a:xfrm rot="0">
            <a:off x="208160" y="1967299"/>
            <a:ext cx="9154314" cy="14582002"/>
            <a:chOff x="0" y="0"/>
            <a:chExt cx="12205752" cy="19442669"/>
          </a:xfrm>
        </p:grpSpPr>
        <p:sp>
          <p:nvSpPr>
            <p:cNvPr name="TextBox 17" id="17"/>
            <p:cNvSpPr txBox="true"/>
            <p:nvPr/>
          </p:nvSpPr>
          <p:spPr>
            <a:xfrm rot="0">
              <a:off x="0" y="-47625"/>
              <a:ext cx="12205752" cy="18739630"/>
            </a:xfrm>
            <a:prstGeom prst="rect">
              <a:avLst/>
            </a:prstGeom>
          </p:spPr>
          <p:txBody>
            <a:bodyPr anchor="t" rtlCol="false" tIns="0" lIns="0" bIns="0" rIns="0">
              <a:spAutoFit/>
            </a:bodyPr>
            <a:lstStyle/>
            <a:p>
              <a:pPr algn="l">
                <a:lnSpc>
                  <a:spcPts val="2369"/>
                </a:lnSpc>
              </a:pPr>
              <a:r>
                <a:rPr lang="en-US" sz="1895">
                  <a:solidFill>
                    <a:srgbClr val="000000"/>
                  </a:solidFill>
                  <a:latin typeface="Alegreya Sans"/>
                  <a:ea typeface="Alegreya Sans"/>
                  <a:cs typeface="Alegreya Sans"/>
                  <a:sym typeface="Alegreya Sans"/>
                </a:rPr>
                <a:t>Trường Đại học Đà Lạt (DLU - Dalat University) là trường công lập đa ngành, đa lĩnh vực, nằm tại số 01 Phù Đổng Thiên Vương, TP. Đà Lạt. Nổi tiếng với khuôn viên rộng gần 40ha, xanh-sạch-đẹp, trường đứng thứ 30/184 tại Việt Nam (theo Webometrics 2025), đào tạo các bậc từ Đại học đến Tiến sĩ với hơn 30 ngành học</a:t>
              </a:r>
            </a:p>
            <a:p>
              <a:pPr algn="l">
                <a:lnSpc>
                  <a:spcPts val="2369"/>
                </a:lnSpc>
              </a:pPr>
              <a:r>
                <a:rPr lang="en-US" sz="1895">
                  <a:solidFill>
                    <a:srgbClr val="000000"/>
                  </a:solidFill>
                  <a:latin typeface="Alegreya Sans"/>
                  <a:ea typeface="Alegreya Sans"/>
                  <a:cs typeface="Alegreya Sans"/>
                  <a:sym typeface="Alegreya Sans"/>
                </a:rPr>
                <a:t>Ngành Giáo Dục Tiểu Học </a:t>
              </a:r>
            </a:p>
            <a:p>
              <a:pPr algn="l">
                <a:lnSpc>
                  <a:spcPts val="2369"/>
                </a:lnSpc>
              </a:pPr>
              <a:r>
                <a:rPr lang="en-US" sz="1895">
                  <a:solidFill>
                    <a:srgbClr val="000000"/>
                  </a:solidFill>
                  <a:latin typeface="Alegreya Sans"/>
                  <a:ea typeface="Alegreya Sans"/>
                  <a:cs typeface="Alegreya Sans"/>
                  <a:sym typeface="Alegreya Sans"/>
                </a:rPr>
                <a:t>Phương thức xét tuyểnPhương thức xét tuyển</a:t>
              </a:r>
            </a:p>
            <a:p>
              <a:pPr algn="l">
                <a:lnSpc>
                  <a:spcPts val="2369"/>
                </a:lnSpc>
              </a:pPr>
              <a:r>
                <a:rPr lang="en-US" sz="1895">
                  <a:solidFill>
                    <a:srgbClr val="000000"/>
                  </a:solidFill>
                  <a:latin typeface="Alegreya Sans"/>
                  <a:ea typeface="Alegreya Sans"/>
                  <a:cs typeface="Alegreya Sans"/>
                  <a:sym typeface="Alegreya Sans"/>
                </a:rPr>
                <a:t>Dựa trên đề án tuyển sinh mới nhất, trường áp dụng các phương thức sau: </a:t>
              </a:r>
            </a:p>
            <a:p>
              <a:pPr algn="l">
                <a:lnSpc>
                  <a:spcPts val="2369"/>
                </a:lnSpc>
              </a:pPr>
              <a:r>
                <a:rPr lang="en-US" sz="1895">
                  <a:solidFill>
                    <a:srgbClr val="000000"/>
                  </a:solidFill>
                  <a:latin typeface="Alegreya Sans"/>
                  <a:ea typeface="Alegreya Sans"/>
                  <a:cs typeface="Alegreya Sans"/>
                  <a:sym typeface="Alegreya Sans"/>
                </a:rPr>
                <a:t>Trường Đại học Đà Lạt +1</a:t>
              </a:r>
            </a:p>
            <a:p>
              <a:pPr algn="l" marL="409294" indent="-204647" lvl="1">
                <a:lnSpc>
                  <a:spcPts val="2369"/>
                </a:lnSpc>
                <a:buFont typeface="Arial"/>
                <a:buChar char="•"/>
              </a:pPr>
              <a:r>
                <a:rPr lang="en-US" sz="1895">
                  <a:solidFill>
                    <a:srgbClr val="000000"/>
                  </a:solidFill>
                  <a:latin typeface="Alegreya Sans"/>
                  <a:ea typeface="Alegreya Sans"/>
                  <a:cs typeface="Alegreya Sans"/>
                  <a:sym typeface="Alegreya Sans"/>
                </a:rPr>
                <a:t>Phương thức 1: Xét tuyển dựa vào kết quả kỳ thi tốt nghiệp THPT.</a:t>
              </a:r>
            </a:p>
            <a:p>
              <a:pPr algn="l" marL="409294" indent="-204647" lvl="1">
                <a:lnSpc>
                  <a:spcPts val="2369"/>
                </a:lnSpc>
                <a:buFont typeface="Arial"/>
                <a:buChar char="•"/>
              </a:pPr>
              <a:r>
                <a:rPr lang="en-US" sz="1895">
                  <a:solidFill>
                    <a:srgbClr val="000000"/>
                  </a:solidFill>
                  <a:latin typeface="Alegreya Sans"/>
                  <a:ea typeface="Alegreya Sans"/>
                  <a:cs typeface="Alegreya Sans"/>
                  <a:sym typeface="Alegreya Sans"/>
                </a:rPr>
                <a:t>Phương thức 2: Xét tuyển dựa vào kết quả học tập lớp 12 (Học bạ THPT). Điều kiện là học lực lớp 12 phải xếp loại Giỏi hoặc điểm xét tốt nghiệp THPT đạt từ 8.0 trở lên.</a:t>
              </a:r>
            </a:p>
            <a:p>
              <a:pPr algn="l" marL="409294" indent="-204647" lvl="1">
                <a:lnSpc>
                  <a:spcPts val="2369"/>
                </a:lnSpc>
                <a:buFont typeface="Arial"/>
                <a:buChar char="•"/>
              </a:pPr>
              <a:r>
                <a:rPr lang="en-US" sz="1895">
                  <a:solidFill>
                    <a:srgbClr val="000000"/>
                  </a:solidFill>
                  <a:latin typeface="Alegreya Sans"/>
                  <a:ea typeface="Alegreya Sans"/>
                  <a:cs typeface="Alegreya Sans"/>
                  <a:sym typeface="Alegreya Sans"/>
                </a:rPr>
                <a:t>Phương thức 3: Sử dụng kết quả kỳ thi Đánh giá năng lực của ĐHQG TP.HCM hoặc ĐHQG Hà Nội.</a:t>
              </a:r>
            </a:p>
            <a:p>
              <a:pPr algn="l" marL="409294" indent="-204647" lvl="1">
                <a:lnSpc>
                  <a:spcPts val="2369"/>
                </a:lnSpc>
                <a:buFont typeface="Arial"/>
                <a:buChar char="•"/>
              </a:pPr>
              <a:r>
                <a:rPr lang="en-US" sz="1895">
                  <a:solidFill>
                    <a:srgbClr val="000000"/>
                  </a:solidFill>
                  <a:latin typeface="Alegreya Sans"/>
                  <a:ea typeface="Alegreya Sans"/>
                  <a:cs typeface="Alegreya Sans"/>
                  <a:sym typeface="Alegreya Sans"/>
                </a:rPr>
                <a:t>Phương thức 4: Xét tuyển thẳng theo quy chế của Bộ GD&amp;ĐT. </a:t>
              </a:r>
            </a:p>
            <a:p>
              <a:pPr algn="l" marL="409294" indent="-204647" lvl="1">
                <a:lnSpc>
                  <a:spcPts val="2369"/>
                </a:lnSpc>
                <a:buFont typeface="Arial"/>
                <a:buChar char="•"/>
              </a:pPr>
              <a:r>
                <a:rPr lang="en-US" sz="1895">
                  <a:solidFill>
                    <a:srgbClr val="000000"/>
                  </a:solidFill>
                  <a:latin typeface="Alegreya Sans"/>
                  <a:ea typeface="Alegreya Sans"/>
                  <a:cs typeface="Alegreya Sans"/>
                  <a:sym typeface="Alegreya Sans"/>
                </a:rPr>
                <a:t>Điểm thi - Tuyển sinh 247 +3</a:t>
              </a:r>
            </a:p>
            <a:p>
              <a:pPr algn="l">
                <a:lnSpc>
                  <a:spcPts val="2369"/>
                </a:lnSpc>
              </a:pPr>
            </a:p>
            <a:p>
              <a:pPr algn="l">
                <a:lnSpc>
                  <a:spcPts val="2369"/>
                </a:lnSpc>
              </a:pPr>
              <a:r>
                <a:rPr lang="en-US" sz="1895">
                  <a:solidFill>
                    <a:srgbClr val="000000"/>
                  </a:solidFill>
                  <a:latin typeface="Alegreya Sans"/>
                  <a:ea typeface="Alegreya Sans"/>
                  <a:cs typeface="Alegreya Sans"/>
                  <a:sym typeface="Alegreya Sans"/>
                </a:rPr>
                <a:t>2. Tổ hợp môn xét tuyển</a:t>
              </a:r>
            </a:p>
            <a:p>
              <a:pPr algn="l">
                <a:lnSpc>
                  <a:spcPts val="2369"/>
                </a:lnSpc>
              </a:pPr>
              <a:r>
                <a:rPr lang="en-US" sz="1895">
                  <a:solidFill>
                    <a:srgbClr val="000000"/>
                  </a:solidFill>
                  <a:latin typeface="Alegreya Sans"/>
                  <a:ea typeface="Alegreya Sans"/>
                  <a:cs typeface="Alegreya Sans"/>
                  <a:sym typeface="Alegreya Sans"/>
                </a:rPr>
                <a:t>Thí sinh có thể chọn một trong các tổ hợp sau để đăng ký xét tuyển cho cả phương thức điểm thi THPT và học bạ: </a:t>
              </a:r>
            </a:p>
            <a:p>
              <a:pPr algn="l">
                <a:lnSpc>
                  <a:spcPts val="2369"/>
                </a:lnSpc>
              </a:pPr>
              <a:r>
                <a:rPr lang="en-US" sz="1895">
                  <a:solidFill>
                    <a:srgbClr val="000000"/>
                  </a:solidFill>
                  <a:latin typeface="Alegreya Sans"/>
                  <a:ea typeface="Alegreya Sans"/>
                  <a:cs typeface="Alegreya Sans"/>
                  <a:sym typeface="Alegreya Sans"/>
                </a:rPr>
                <a:t>Hướng nghiệp Việt +1</a:t>
              </a:r>
            </a:p>
            <a:p>
              <a:pPr algn="l" marL="409294" indent="-204647" lvl="1">
                <a:lnSpc>
                  <a:spcPts val="2369"/>
                </a:lnSpc>
                <a:buFont typeface="Arial"/>
                <a:buChar char="•"/>
              </a:pPr>
              <a:r>
                <a:rPr lang="en-US" sz="1895">
                  <a:solidFill>
                    <a:srgbClr val="000000"/>
                  </a:solidFill>
                  <a:latin typeface="Alegreya Sans"/>
                  <a:ea typeface="Alegreya Sans"/>
                  <a:cs typeface="Alegreya Sans"/>
                  <a:sym typeface="Alegreya Sans"/>
                </a:rPr>
                <a:t>A00: Toán, Vật lý, Hóa học</a:t>
              </a:r>
            </a:p>
            <a:p>
              <a:pPr algn="l" marL="409294" indent="-204647" lvl="1">
                <a:lnSpc>
                  <a:spcPts val="2369"/>
                </a:lnSpc>
                <a:buFont typeface="Arial"/>
                <a:buChar char="•"/>
              </a:pPr>
              <a:r>
                <a:rPr lang="en-US" sz="1895">
                  <a:solidFill>
                    <a:srgbClr val="000000"/>
                  </a:solidFill>
                  <a:latin typeface="Alegreya Sans"/>
                  <a:ea typeface="Alegreya Sans"/>
                  <a:cs typeface="Alegreya Sans"/>
                  <a:sym typeface="Alegreya Sans"/>
                </a:rPr>
                <a:t>A01: Toán, Vật lý, Tiếng Anh</a:t>
              </a:r>
            </a:p>
            <a:p>
              <a:pPr algn="l" marL="409294" indent="-204647" lvl="1">
                <a:lnSpc>
                  <a:spcPts val="2369"/>
                </a:lnSpc>
                <a:buFont typeface="Arial"/>
                <a:buChar char="•"/>
              </a:pPr>
              <a:r>
                <a:rPr lang="en-US" sz="1895">
                  <a:solidFill>
                    <a:srgbClr val="000000"/>
                  </a:solidFill>
                  <a:latin typeface="Alegreya Sans"/>
                  <a:ea typeface="Alegreya Sans"/>
                  <a:cs typeface="Alegreya Sans"/>
                  <a:sym typeface="Alegreya Sans"/>
                </a:rPr>
                <a:t>C00: Ngữ văn, Lịch sử, Địa lý</a:t>
              </a:r>
            </a:p>
            <a:p>
              <a:pPr algn="l" marL="409294" indent="-204647" lvl="1">
                <a:lnSpc>
                  <a:spcPts val="2369"/>
                </a:lnSpc>
                <a:buFont typeface="Arial"/>
                <a:buChar char="•"/>
              </a:pPr>
              <a:r>
                <a:rPr lang="en-US" sz="1895">
                  <a:solidFill>
                    <a:srgbClr val="000000"/>
                  </a:solidFill>
                  <a:latin typeface="Alegreya Sans"/>
                  <a:ea typeface="Alegreya Sans"/>
                  <a:cs typeface="Alegreya Sans"/>
                  <a:sym typeface="Alegreya Sans"/>
                </a:rPr>
                <a:t>D01: Ngữ văn, Toán, Tiếng Anh</a:t>
              </a: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a:p>
              <a:pPr algn="l">
                <a:lnSpc>
                  <a:spcPts val="2369"/>
                </a:lnSpc>
              </a:pPr>
            </a:p>
          </p:txBody>
        </p:sp>
        <p:sp>
          <p:nvSpPr>
            <p:cNvPr name="TextBox 18" id="18"/>
            <p:cNvSpPr txBox="true"/>
            <p:nvPr/>
          </p:nvSpPr>
          <p:spPr>
            <a:xfrm rot="0">
              <a:off x="0" y="19203399"/>
              <a:ext cx="12205752" cy="239270"/>
            </a:xfrm>
            <a:prstGeom prst="rect">
              <a:avLst/>
            </a:prstGeom>
          </p:spPr>
          <p:txBody>
            <a:bodyPr anchor="t" rtlCol="false" tIns="0" lIns="0" bIns="0" rIns="0">
              <a:spAutoFit/>
            </a:bodyPr>
            <a:lstStyle/>
            <a:p>
              <a:pPr algn="l">
                <a:lnSpc>
                  <a:spcPts val="1415"/>
                </a:lnSpc>
              </a:pPr>
              <a:r>
                <a:rPr lang="en-US" sz="1011">
                  <a:solidFill>
                    <a:srgbClr val="000000"/>
                  </a:solidFill>
                  <a:latin typeface="Alegreya Sans"/>
                  <a:ea typeface="Alegreya Sans"/>
                  <a:cs typeface="Alegreya Sans"/>
                  <a:sym typeface="Alegreya Sans"/>
                </a:rPr>
                <a:t>Tôi không thể rời mắt khỏi anh ấy.</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DAHGRi5zhfw</dc:identifier>
  <dcterms:modified xsi:type="dcterms:W3CDTF">2011-08-01T06:04:30Z</dcterms:modified>
  <cp:revision>1</cp:revision>
  <dc:title>Giới thiệu 5 trường Đại học </dc:title>
</cp:coreProperties>
</file>