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Mở đầu Chương 4. Giới thiệu mục tiêu và mạch tư duy của chương.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Mục tiêu học tập;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Dùng sơ đồ để khái quát TRIẾT HỌC HÔM NAY và bốn nhánh kiến thức.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Chuyển sang I: KẾ THỪA VÀ PHÁT TRIỂN SÁNG TẠO.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Sức sống của triết học Mác – Lênin;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Kế thừa không phải lặp lại;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Khoa học hiện đại đặt ra câu hỏi mới;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AI và vấn đề chủ thể;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 chức thảo luận nhóm; yêu cầu câu trả lời có khái niệm, lập luận, ví dụ và phản biện.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Chuyển sang II: TRIẾT HỌC TRONG SỰ NGHIỆP ĐỔI MỚI VIỆT NAM.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Đổi mới bắt đầu từ đổi mới tư duy;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Định hướng đột phá theo Nghị quyết 57-NQ/TW;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https://tulieuvankien.dangcongsan.vn/he-thong-van-ban/van-ban-cua-dang/nghi-quyet-so-57-nqtw-ngay-22122024-cua-bo-chinh-tri-ve-dot-pha-phat-trien-khoa-hoc-cong-nghe-doi-moi-sang-tao-va-chuyen-11162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Chương trình chuyển đổi số quốc gia; yêu cầu người học nêu ví dụ và liên hệ thực tiễn.</a:t>
            </a:r>
          </a:p>
          <a:p>
            <a:r>
              <a:t>[Sources]</a:t>
            </a:r>
          </a:p>
          <a:p>
            <a:r>
              <a:t>- https://chinhphu.vn/default.aspx?docid=200163&amp;pageid=27160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Chiến lược nghiên cứu và ứng dụng AI; yêu cầu người học nêu ví dụ và liên hệ thực tiễn.</a:t>
            </a:r>
          </a:p>
          <a:p>
            <a:r>
              <a:t>[Sources]</a:t>
            </a:r>
          </a:p>
          <a:p>
            <a:r>
              <a:t>- https://vanban.chinhphu.vn/default.aspx?docid=202565&amp;pageid=27160</a:t>
            </a:r>
          </a:p>
          <a:p>
            <a:r>
              <a:t>- https://unesdoc.unesco.org/ark:/48223/pf0000381137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Chiến lược phát triển khoa học, công nghệ và đổi mới sáng tạo; yêu cầu người học nêu ví dụ và liên hệ thực tiễn.</a:t>
            </a:r>
          </a:p>
          <a:p>
            <a:r>
              <a:t>[Sources]</a:t>
            </a:r>
          </a:p>
          <a:p>
            <a:r>
              <a:t>- https://vanban.chinhphu.vn/?docid=205759&amp;pageid=27160</a:t>
            </a:r>
          </a:p>
          <a:p>
            <a:r>
              <a:t>- https://tulieuvankien.dangcongsan.vn/he-thong-van-ban/van-ban-cua-dang/nghi-quyet-so-57-nqtw-ngay-22122024-cua-bo-chinh-tri-ve-dot-pha-phat-trien-khoa-hoc-cong-nghe-doi-moi-sang-tao-va-chuyen-11162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Đổi mới giáo dục trong kỷ nguyên số;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Phát triển xanh và kinh tế tuần hoàn;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 chức thảo luận nhóm; yêu cầu câu trả lời có khái niệm, lập luận, ví dụ và phản biện.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Chuyển sang III: NĂNG LỰC PHƯƠNG PHÁP LUẬN TRONG KỶ NGUYÊN SỐ.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Bước 1 – Xác định đúng vấn đề;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Bước 2 – Thu thập và kiểm chứng bằng chứng;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Bước 3 – Phân tích hệ thống và mâu thuẫn;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Bước 4 – Thiết kế và thử nghiệm giải pháp;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Bước 5 – Đánh giá tác động và trách nhiệm;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Năng lực dùng AI có trách nhiệm;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 chức thảo luận nhóm; yêu cầu câu trả lời có khái niệm, lập luận, ví dụ và phản biện.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Chuyển sang IV: TÌNH HUỐNG VẬN DỤNG.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Tình huống 1 – AI hỗ trợ học tập;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Tình huống 2 – Dữ liệu trong quản trị;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Tình huống 3 – Tương lai lao động;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Tình huống 4 – Đổi mới sáng tạo địa phương;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Dùng sơ đồ để khái quát HÀNH ĐỘNG CÓ CĂN CỨ và bốn nhánh kiến thức.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 chức thảo luận nhóm; yêu cầu câu trả lời có khái niệm, lập luận, ví dụ và phản biện.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Giải thích Sản phẩm học tập cuối học phần; yêu cầu người học nêu ví dụ và liên hệ thực tiễn.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Khép lại Chương 4; nhấn mạnh thông điệp cốt lõi và định hướng tự học.</a:t>
            </a:r>
          </a:p>
          <a:p>
            <a:r>
              <a:t>[Sources]</a:t>
            </a:r>
          </a:p>
          <a:p>
            <a:r>
              <a:t>- Giáo trình Triết học Mác – Lênin, NXB Chính trị quốc gia Sự thật, 2021/2022</a:t>
            </a:r>
          </a:p>
          <a:p>
            <a:r>
              <a:t>- Tệp bài giảng do người dùng cung cấp: CHUONG_1_TRIET_HOC_ML_CAP_NHAT_HOAN_THIEN.pptx</a:t>
            </a:r>
          </a:p>
          <a:p>
            <a:r>
              <a:t>- Tệp bài giảng do người dùng cung cấp: CHUONG_2_CNDVBC_CAP_NHAT_HOAN_THIEN.pptx</a:t>
            </a:r>
          </a:p>
          <a:p>
            <a:r>
              <a:t>- Tệp bài giảng do người dùng cung cấp: CHUONG_3_CNDVLS_CAP_NHAT_HOAN_THIEN.pptx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438150"/>
            <a:ext cx="876300" cy="876300"/>
          </a:xfrm>
          <a:prstGeom prst="ellipse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1581150" y="571500"/>
            <a:ext cx="514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TRƯỜNG ĐẠI HỌC QUY NHƠN</a:t>
            </a:r>
            <a:endParaRPr sz="21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1752600"/>
            <a:ext cx="590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55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CHƯƠNG 4</a:t>
            </a:r>
            <a:endParaRPr sz="2550" b="1">
              <a:solidFill>
                <a:srgbClr val="F582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71500" y="2343150"/>
            <a:ext cx="609600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TRIẾT HỌC MÁC – LÊNIN TRONG THỜI ĐẠI NGÀY NAY</a:t>
            </a:r>
            <a:endParaRPr sz="43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71500" y="4514850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175" b="0">
                <a:solidFill>
                  <a:srgbClr val="D9E7F4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9E7F4"/>
                </a:solidFill>
                <a:latin typeface="Aptos"/>
                <a:ea typeface="Aptos"/>
                <a:cs typeface="Aptos"/>
              </a:rPr>
              <a:t>Học phần 1130293 • 4 tín chỉ • Ngành Sư phạm Giáo dục chính trị</a:t>
            </a:r>
            <a:endParaRPr sz="2175" b="0">
              <a:solidFill>
                <a:srgbClr val="D9E7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71500" y="581025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PGS.TS ĐOÀN THẾ HÙNG</a:t>
            </a:r>
            <a:endParaRPr sz="2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rcRect l="10949" r="10949"/>
          <a:stretch>
            <a:fillRect/>
          </a:stretch>
        </p:blipFill>
        <p:spPr>
          <a:xfrm>
            <a:off x="7524750" y="514350"/>
            <a:ext cx="2038350" cy="2609850"/>
          </a:xfrm>
          <a:prstGeom prst="roundRect">
            <a:avLst>
              <a:gd name="adj" fmla="val 8411"/>
            </a:avLst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l="10949" r="10949"/>
          <a:stretch>
            <a:fillRect/>
          </a:stretch>
        </p:blipFill>
        <p:spPr>
          <a:xfrm>
            <a:off x="9772650" y="514350"/>
            <a:ext cx="2038350" cy="2609850"/>
          </a:xfrm>
          <a:prstGeom prst="roundRect">
            <a:avLst>
              <a:gd name="adj" fmla="val 8411"/>
            </a:avLst>
          </a:prstGeom>
        </p:spPr>
      </p:pic>
      <p:sp>
        <p:nvSpPr>
          <p:cNvPr id="11" name="Rounded Rectangle 10"/>
          <p:cNvSpPr>
            <a:spLocks noGrp="1"/>
          </p:cNvSpPr>
          <p:nvPr/>
        </p:nvSpPr>
        <p:spPr>
          <a:xfrm>
            <a:off x="7524750" y="3409950"/>
            <a:ext cx="428625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810500" y="3714750"/>
            <a:ext cx="3714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850" b="1">
                <a:solidFill>
                  <a:srgbClr val="06376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3764"/>
                </a:solidFill>
                <a:latin typeface="Aptos"/>
                <a:ea typeface="Aptos"/>
                <a:cs typeface="Aptos"/>
              </a:rPr>
              <a:t>Đổi mới tư duy, làm chủ công nghệ, phụng sự con người</a:t>
            </a:r>
            <a:endParaRPr sz="2850" b="1">
              <a:solidFill>
                <a:srgbClr val="0637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810500" y="5524500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ctr">
              <a:defRPr sz="1575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Bản trình chiếu chuyên sâu • cỡ chữ nội dung 32 pt</a:t>
            </a:r>
            <a:endParaRPr sz="1575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Mục tiêu học tập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02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95300" y="914400"/>
            <a:ext cx="11201400" cy="914400"/>
          </a:xfrm>
          <a:prstGeom prst="roundRect">
            <a:avLst>
              <a:gd name="adj" fmla="val 14583"/>
            </a:avLst>
          </a:prstGeom>
          <a:solidFill>
            <a:srgbClr val="EAF3FB"/>
          </a:solidFill>
          <a:ln w="9525">
            <a:solidFill>
              <a:srgbClr val="AFCBE4"/>
            </a:solidFill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3200" b="1">
                <a:solidFill>
                  <a:srgbClr val="063764"/>
                </a:solidFill>
                <a:latin typeface="Aptos"/>
                <a:ea typeface="Aptos"/>
                <a:cs typeface="Aptos"/>
              </a:defRPr>
            </a:pPr>
            <a:r>
              <a:rPr sz="3200" b="1">
                <a:solidFill>
                  <a:srgbClr val="063764"/>
                </a:solidFill>
                <a:latin typeface="Aptos"/>
                <a:ea typeface="Aptos"/>
                <a:cs typeface="Aptos"/>
              </a:rPr>
              <a:t>Sau chương này, người học có thể:</a:t>
            </a:r>
            <a:endParaRPr sz="3200" b="1">
              <a:solidFill>
                <a:srgbClr val="0637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90550" y="2057400"/>
            <a:ext cx="10953750" cy="403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Giải thích sức sống và yêu cầu phát triển sáng tạo triết học Mác – Lênin.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Liên hệ với khoa học – công nghệ, đổi mới sáng tạo và chuyển đổi số Việt Nam.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Vận dụng phương pháp luận vào quyết định, nghiên cứu và nghề nghiệp sư phạm.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Cấu trúc Chương 4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03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667250" y="2781300"/>
            <a:ext cx="2857500" cy="1123950"/>
          </a:xfrm>
          <a:prstGeom prst="roundRect">
            <a:avLst>
              <a:gd name="adj" fmla="val 20339"/>
            </a:avLst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4781550" y="2876550"/>
            <a:ext cx="26289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TRIẾT HỌC HÔM NAY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66750" y="11620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0B5EA8"/>
          </a:solidFill>
          <a:ln w="0">
            <a:solidFill>
              <a:srgbClr val="0B5EA8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62000" y="123825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I. Kế thừa – phát triển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3" name="Straight Arrow Connector 32"/>
          <p:cNvCxnSpPr>
            <a:stCxn id="8" idx="1"/>
            <a:endCxn id="10" idx="3"/>
          </p:cNvCxnSpPr>
          <p:nvPr/>
        </p:nvCxnSpPr>
        <p:spPr>
          <a:xfrm flipH="1" flipV="1">
            <a:off x="3619500" y="1733550"/>
            <a:ext cx="1047750" cy="16097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  <p:sp>
        <p:nvSpPr>
          <p:cNvPr id="13" name="Rounded Rectangle 12"/>
          <p:cNvSpPr>
            <a:spLocks noGrp="1"/>
          </p:cNvSpPr>
          <p:nvPr/>
        </p:nvSpPr>
        <p:spPr>
          <a:xfrm>
            <a:off x="8591550" y="11620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008C66"/>
          </a:solidFill>
          <a:ln w="0">
            <a:solidFill>
              <a:srgbClr val="008C66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686800" y="123825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II. Đổi mới Việt Nam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6" name="Straight Arrow Connector 35"/>
          <p:cNvCxnSpPr>
            <a:stCxn id="8" idx="3"/>
            <a:endCxn id="13" idx="1"/>
          </p:cNvCxnSpPr>
          <p:nvPr/>
        </p:nvCxnSpPr>
        <p:spPr>
          <a:xfrm flipV="1">
            <a:off x="7524750" y="1733550"/>
            <a:ext cx="1066800" cy="16097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  <p:sp>
        <p:nvSpPr>
          <p:cNvPr id="16" name="Rounded Rectangle 15"/>
          <p:cNvSpPr>
            <a:spLocks noGrp="1"/>
          </p:cNvSpPr>
          <p:nvPr/>
        </p:nvSpPr>
        <p:spPr>
          <a:xfrm>
            <a:off x="666750" y="453390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461010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III. Năng lực phương pháp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9" name="Straight Arrow Connector 38"/>
          <p:cNvCxnSpPr>
            <a:stCxn id="8" idx="1"/>
            <a:endCxn id="16" idx="3"/>
          </p:cNvCxnSpPr>
          <p:nvPr/>
        </p:nvCxnSpPr>
        <p:spPr>
          <a:xfrm flipH="1">
            <a:off x="3619500" y="3343275"/>
            <a:ext cx="1047750" cy="17621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  <p:sp>
        <p:nvSpPr>
          <p:cNvPr id="19" name="Rounded Rectangle 18"/>
          <p:cNvSpPr>
            <a:spLocks noGrp="1"/>
          </p:cNvSpPr>
          <p:nvPr/>
        </p:nvSpPr>
        <p:spPr>
          <a:xfrm>
            <a:off x="8591550" y="453390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70439B"/>
          </a:solidFill>
          <a:ln w="0">
            <a:solidFill>
              <a:srgbClr val="70439B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686800" y="461010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IV. Tình huống thực tiễn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42" name="Straight Arrow Connector 41"/>
          <p:cNvCxnSpPr>
            <a:stCxn id="8" idx="3"/>
            <a:endCxn id="19" idx="1"/>
          </p:cNvCxnSpPr>
          <p:nvPr/>
        </p:nvCxnSpPr>
        <p:spPr>
          <a:xfrm>
            <a:off x="7524750" y="3343275"/>
            <a:ext cx="1066800" cy="17621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0" y="438150"/>
            <a:ext cx="914400" cy="914400"/>
          </a:xfrm>
          <a:prstGeom prst="ellipse">
            <a:avLst/>
          </a:prstGeom>
        </p:spPr>
      </p:pic>
      <p:sp>
        <p:nvSpPr>
          <p:cNvPr id="3" name="Rectangle 2"/>
          <p:cNvSpPr>
            <a:spLocks noGrp="1"/>
          </p:cNvSpPr>
          <p:nvPr/>
        </p:nvSpPr>
        <p:spPr>
          <a:xfrm>
            <a:off x="685800" y="685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100" b="1">
                <a:solidFill>
                  <a:srgbClr val="BFD6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FD6EA"/>
                </a:solidFill>
                <a:latin typeface="Aptos"/>
                <a:ea typeface="Aptos"/>
                <a:cs typeface="Aptos"/>
              </a:rPr>
              <a:t>CHƯƠNG 4</a:t>
            </a:r>
            <a:endParaRPr sz="2100" b="1">
              <a:solidFill>
                <a:srgbClr val="BFD6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71450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54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</a:t>
            </a:r>
            <a:endParaRPr sz="5400" b="1">
              <a:solidFill>
                <a:srgbClr val="F582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2628900"/>
            <a:ext cx="971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KẾ THỪA VÀ PHÁT TRIỂN SÁNG TẠO</a:t>
            </a:r>
            <a:endParaRPr sz="4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3900" y="4629150"/>
            <a:ext cx="990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3200" b="0">
                <a:solidFill>
                  <a:srgbClr val="D9E7F4"/>
                </a:solidFill>
                <a:latin typeface="Aptos"/>
                <a:ea typeface="Aptos"/>
                <a:cs typeface="Aptos"/>
              </a:defRPr>
            </a:pPr>
            <a:r>
              <a:rPr sz="3200" b="0">
                <a:solidFill>
                  <a:srgbClr val="D9E7F4"/>
                </a:solidFill>
                <a:latin typeface="Aptos"/>
                <a:ea typeface="Aptos"/>
                <a:cs typeface="Aptos"/>
              </a:rPr>
              <a:t>Học thuyết mở, chống giáo điều và luôn gắn với thực tiễn.</a:t>
            </a:r>
            <a:endParaRPr sz="3200" b="0">
              <a:solidFill>
                <a:srgbClr val="D9E7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896600" y="6362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r">
              <a:defRPr sz="1200" b="0">
                <a:solidFill>
                  <a:srgbClr val="AFC7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7DA"/>
                </a:solidFill>
                <a:latin typeface="Aptos"/>
                <a:ea typeface="Aptos"/>
                <a:cs typeface="Aptos"/>
              </a:rPr>
              <a:t>04</a:t>
            </a:r>
            <a:endParaRPr sz="1200" b="0">
              <a:solidFill>
                <a:srgbClr val="AFC7D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Sức sống của triết học Mác – Lênin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05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Cung cấp thế giới quan duy vật và phương pháp biện chứng để hiểu biến đổi.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Đặt con người, thực tiễn và quan hệ xã hội vào trung tâm phân tích.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Giá trị bền vững nằm ở nguyên lý và phương pháp, không ở công thức bất biến.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Kế thừa không phải lặp lại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06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Giữ hạt nhân khoa học, cách mạng và nhân văn.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Bổ sung tri thức mới của khoa học tự nhiên, xã hội và công nghệ.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Vận dụng lịch sử – cụ thể; tránh kinh viện, giáo điều và sao chép mô hình.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Khoa học hiện đại đặt ra câu hỏi mới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07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AI, công nghệ sinh học và lượng tử mở rộng năng lực nhưng tạo rủi ro mới.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Biến đổi khí hậu cho thấy tự nhiên, kinh tế, chính trị và đạo đức liên hệ chặt chẽ.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Triết học giúp làm rõ giả định, giới hạn, giá trị và trách nhiệm của khoa học.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và vấn đề chủ thể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08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AI có thể tạo nội dung và hỗ trợ quyết định nhưng phụ thuộc hệ thống xã hội – kỹ thuật.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Không đồng nhất khả năng xử lý với ý thức, mục đích và trách nhiệm đạo đức.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Con người phải giữ quyền giám sát, giải thích và chịu trách nhiệm cuối cùng.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B6242F"/>
          </a:solidFill>
          <a:ln w="0">
            <a:solidFill>
              <a:srgbClr val="B6242F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Thảo luận mục I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09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76250" y="952500"/>
            <a:ext cx="11239500" cy="5124450"/>
          </a:xfrm>
          <a:prstGeom prst="roundRect">
            <a:avLst>
              <a:gd name="adj" fmla="val 3346"/>
            </a:avLst>
          </a:prstGeom>
          <a:solidFill>
            <a:srgbClr val="FFF8F4"/>
          </a:solidFill>
          <a:ln w="9525">
            <a:solidFill>
              <a:srgbClr val="F2C7A8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1200150"/>
            <a:ext cx="10706100" cy="459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>
            <a:noAutofit/>
          </a:bodyPr>
          <a:lstStyle/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1. Vì sao phát triển triết học phải chống cả giáo điều và xét lại tùy tiện?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2. AI làm thay đổi những câu hỏi triết học nào?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3. Cho ví dụ vận dụng nguyên tắc lịch sử – cụ thể vào công nghệ mới.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8C66"/>
          </a:solidFill>
          <a:ln w="0">
            <a:solidFill>
              <a:srgbClr val="008C6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0" y="438150"/>
            <a:ext cx="914400" cy="914400"/>
          </a:xfrm>
          <a:prstGeom prst="ellipse">
            <a:avLst/>
          </a:prstGeom>
        </p:spPr>
      </p:pic>
      <p:sp>
        <p:nvSpPr>
          <p:cNvPr id="3" name="Rectangle 2"/>
          <p:cNvSpPr>
            <a:spLocks noGrp="1"/>
          </p:cNvSpPr>
          <p:nvPr/>
        </p:nvSpPr>
        <p:spPr>
          <a:xfrm>
            <a:off x="685800" y="685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100" b="1">
                <a:solidFill>
                  <a:srgbClr val="BFD6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FD6EA"/>
                </a:solidFill>
                <a:latin typeface="Aptos"/>
                <a:ea typeface="Aptos"/>
                <a:cs typeface="Aptos"/>
              </a:rPr>
              <a:t>CHƯƠNG 4</a:t>
            </a:r>
            <a:endParaRPr sz="2100" b="1">
              <a:solidFill>
                <a:srgbClr val="BFD6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71450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5400" b="1">
                <a:solidFill>
                  <a:srgbClr val="008C66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008C66"/>
                </a:solidFill>
                <a:latin typeface="Aptos"/>
                <a:ea typeface="Aptos"/>
                <a:cs typeface="Aptos"/>
              </a:rPr>
              <a:t>II</a:t>
            </a:r>
            <a:endParaRPr sz="5400" b="1">
              <a:solidFill>
                <a:srgbClr val="008C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2628900"/>
            <a:ext cx="971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TRIẾT HỌC TRONG SỰ NGHIỆP ĐỔI MỚI VIỆT NAM</a:t>
            </a:r>
            <a:endParaRPr sz="4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3900" y="4629150"/>
            <a:ext cx="990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3200" b="0">
                <a:solidFill>
                  <a:srgbClr val="D9E7F4"/>
                </a:solidFill>
                <a:latin typeface="Aptos"/>
                <a:ea typeface="Aptos"/>
                <a:cs typeface="Aptos"/>
              </a:defRPr>
            </a:pPr>
            <a:r>
              <a:rPr sz="3200" b="0">
                <a:solidFill>
                  <a:srgbClr val="D9E7F4"/>
                </a:solidFill>
                <a:latin typeface="Aptos"/>
                <a:ea typeface="Aptos"/>
                <a:cs typeface="Aptos"/>
              </a:rPr>
              <a:t>Khoa học, công nghệ, đổi mới sáng tạo và chuyển đổi số là động lực phát triển.</a:t>
            </a:r>
            <a:endParaRPr sz="3200" b="0">
              <a:solidFill>
                <a:srgbClr val="D9E7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896600" y="6362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r">
              <a:defRPr sz="1200" b="0">
                <a:solidFill>
                  <a:srgbClr val="AFC7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7DA"/>
                </a:solidFill>
                <a:latin typeface="Aptos"/>
                <a:ea typeface="Aptos"/>
                <a:cs typeface="Aptos"/>
              </a:rPr>
              <a:t>10</a:t>
            </a:r>
            <a:endParaRPr sz="1200" b="0">
              <a:solidFill>
                <a:srgbClr val="AFC7D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Đổi mới bắt đầu từ đổi mới tư duy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11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Nhìn thẳng vào thực tiễn, tôn trọng quy luật khách quan và lợi ích nhân dân.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Kết hợp ổn định với phát triển, kế thừa với sáng tạo, dân tộc với thời đại.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Thử nghiệm, tổng kết thực tiễn và điều chỉnh chính sách dựa trên bằng chứng.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Định hướng đột phá theo Nghị quyết 57-NQ/TW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12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Phát triển khoa học, công nghệ, đổi mới sáng tạo và chuyển đổi số quốc gia.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Tháo gỡ điểm nghẽn thể chế, hạ tầng, nhân lực và hệ sinh thái.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Gắn tự chủ công nghệ với năng lực cạnh tranh và phát triển bền vững.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Chương trình chuyển đổi số quốc gia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13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Phát triển chính phủ số, kinh tế số và xã hội số.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Dữ liệu và nền tảng số phải tạo giá trị cho người dân và tổ chức.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Chuyển đổi số là thay đổi phương thức hoạt động, không chỉ số hóa tài liệu.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Chiến lược nghiên cứu và ứng dụng AI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14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Xây dựng năng lực nghiên cứu, phát triển và ứng dụng AI.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Hình thành dữ liệu, hạ tầng, nhân lực và hệ sinh thái đổi mới.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Bảo đảm an toàn, quyền con người và trách nhiệm trong triển khai.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Chiến lược phát triển khoa học, công nghệ và đổi mới sáng tạo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15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Nâng cao năng lực quốc gia và năng suất dựa trên tri thức.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Liên kết viện – trường – doanh nghiệp – nhà nước – cộng đồng.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Đưa đổi mới sáng tạo vào giải quyết vấn đề phát triển thực tế.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Đổi mới giáo dục trong kỷ nguyên số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16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Chuyển từ truyền thụ nội dung sang phát triển năng lực và phẩm chất.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Kết hợp lớp học, học liệu mở, dữ liệu học tập và trải nghiệm thực tiễn.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Giảng viên thiết kế hoạt động, kiểm chứng tri thức và dẫn dắt đạo đức học thuật.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Phát triển xanh và kinh tế tuần hoàn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17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Tự nhiên là điều kiện vật chất của mọi hoạt động kinh tế – xã hội.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Cần nhìn toàn bộ vòng đời tài nguyên, năng lượng, sản phẩm và chất thải.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Đổi mới công nghệ phải đồng thời tạo hiệu quả kinh tế, xã hội và môi trường.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B6242F"/>
          </a:solidFill>
          <a:ln w="0">
            <a:solidFill>
              <a:srgbClr val="B6242F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Thảo luận mục II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18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76250" y="952500"/>
            <a:ext cx="11239500" cy="5124450"/>
          </a:xfrm>
          <a:prstGeom prst="roundRect">
            <a:avLst>
              <a:gd name="adj" fmla="val 3346"/>
            </a:avLst>
          </a:prstGeom>
          <a:solidFill>
            <a:srgbClr val="FFF8F4"/>
          </a:solidFill>
          <a:ln w="9525">
            <a:solidFill>
              <a:srgbClr val="F2C7A8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1200150"/>
            <a:ext cx="10706100" cy="459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>
            <a:noAutofit/>
          </a:bodyPr>
          <a:lstStyle/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1. Nghị quyết 57 đặt ra yêu cầu đổi mới tư duy nào?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2. Vì sao chuyển đổi số không thể chỉ là mua sắm công nghệ?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3. Thiết kế một sáng kiến giáo dục số gắn với nhu cầu thực tiễn địa phương.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5EA8"/>
          </a:solidFill>
          <a:ln w="0">
            <a:solidFill>
              <a:srgbClr val="0B5EA8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0" y="438150"/>
            <a:ext cx="914400" cy="914400"/>
          </a:xfrm>
          <a:prstGeom prst="ellipse">
            <a:avLst/>
          </a:prstGeom>
        </p:spPr>
      </p:pic>
      <p:sp>
        <p:nvSpPr>
          <p:cNvPr id="3" name="Rectangle 2"/>
          <p:cNvSpPr>
            <a:spLocks noGrp="1"/>
          </p:cNvSpPr>
          <p:nvPr/>
        </p:nvSpPr>
        <p:spPr>
          <a:xfrm>
            <a:off x="685800" y="685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100" b="1">
                <a:solidFill>
                  <a:srgbClr val="BFD6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FD6EA"/>
                </a:solidFill>
                <a:latin typeface="Aptos"/>
                <a:ea typeface="Aptos"/>
                <a:cs typeface="Aptos"/>
              </a:rPr>
              <a:t>CHƯƠNG 4</a:t>
            </a:r>
            <a:endParaRPr sz="2100" b="1">
              <a:solidFill>
                <a:srgbClr val="BFD6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71450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5400" b="1">
                <a:solidFill>
                  <a:srgbClr val="0B5EA8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0B5EA8"/>
                </a:solidFill>
                <a:latin typeface="Aptos"/>
                <a:ea typeface="Aptos"/>
                <a:cs typeface="Aptos"/>
              </a:rPr>
              <a:t>III</a:t>
            </a:r>
            <a:endParaRPr sz="5400" b="1">
              <a:solidFill>
                <a:srgbClr val="0B5EA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2628900"/>
            <a:ext cx="971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NĂNG LỰC PHƯƠNG PHÁP LUẬN TRONG KỶ NGUYÊN SỐ</a:t>
            </a:r>
            <a:endParaRPr sz="4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3900" y="4629150"/>
            <a:ext cx="990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3200" b="0">
                <a:solidFill>
                  <a:srgbClr val="D9E7F4"/>
                </a:solidFill>
                <a:latin typeface="Aptos"/>
                <a:ea typeface="Aptos"/>
                <a:cs typeface="Aptos"/>
              </a:defRPr>
            </a:pPr>
            <a:r>
              <a:rPr sz="3200" b="0">
                <a:solidFill>
                  <a:srgbClr val="D9E7F4"/>
                </a:solidFill>
                <a:latin typeface="Aptos"/>
                <a:ea typeface="Aptos"/>
                <a:cs typeface="Aptos"/>
              </a:rPr>
              <a:t>Biến nguyên lý triết học thành quy trình giải quyết vấn đề.</a:t>
            </a:r>
            <a:endParaRPr sz="3200" b="0">
              <a:solidFill>
                <a:srgbClr val="D9E7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896600" y="6362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r">
              <a:defRPr sz="1200" b="0">
                <a:solidFill>
                  <a:srgbClr val="AFC7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7DA"/>
                </a:solidFill>
                <a:latin typeface="Aptos"/>
                <a:ea typeface="Aptos"/>
                <a:cs typeface="Aptos"/>
              </a:rPr>
              <a:t>19</a:t>
            </a:r>
            <a:endParaRPr sz="1200" b="0">
              <a:solidFill>
                <a:srgbClr val="AFC7D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Bước 1 – Xác định đúng vấn đề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20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Phân biệt biểu hiện bề mặt với mâu thuẫn và nguyên nhân cốt lõi.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Xác định chủ thể, lợi ích, điều kiện vật chất và bối cảnh lịch sử.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Viết câu hỏi có phạm vi, tiêu chí và mục tiêu xã hội rõ ràng.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Bước 2 – Thu thập và kiểm chứng bằng chứng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21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Kết hợp dữ liệu định lượng, định tính và tri thức thực tiễn.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Đánh giá nguồn, phương pháp, độ đại diện và thiên lệch.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Không để công cụ AI che khuất quá trình tạo dữ liệu và giả định mô hình.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Bước 3 – Phân tích hệ thống và mâu thuẫn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22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Lập bản đồ các mối liên hệ, phản hồi và hệ quả ngoài dự kiến.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Nhận diện mâu thuẫn chủ yếu và điều kiện chuyển hóa.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Tránh giải pháp đơn tuyến cho vấn đề nhiều tác nhân.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Bước 4 – Thiết kế và thử nghiệm giải pháp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23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Đề xuất nhiều phương án; so sánh lợi ích, chi phí, rủi ro và công bằng.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Thử nghiệm ở quy mô phù hợp; đo lường và học từ phản hồi.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Kế thừa cái hiệu quả, điều chỉnh điểm yếu và mở rộng có điều kiện.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Bước 5 – Đánh giá tác động và trách nhiệm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24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Đánh giá không chỉ đầu ra mà cả tác động dài hạn và nhóm dễ bị tổn thương.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Công khai dữ liệu, giới hạn và trách nhiệm của người ra quyết định.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Thiết lập cơ chế giám sát, phản biện và sửa sai.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Năng lực dùng AI có trách nhiệm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25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Biết việc nào nên dùng AI, việc nào cần chuyên gia và phán đoán con người.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Bảo vệ dữ liệu cá nhân; tôn trọng bản quyền và liêm chính học thuật.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Kiểm chứng đầu ra, ghi nhận mức độ hỗ trợ và không chuyển giao trách nhiệm.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B6242F"/>
          </a:solidFill>
          <a:ln w="0">
            <a:solidFill>
              <a:srgbClr val="B6242F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Thảo luận mục III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26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76250" y="952500"/>
            <a:ext cx="11239500" cy="5124450"/>
          </a:xfrm>
          <a:prstGeom prst="roundRect">
            <a:avLst>
              <a:gd name="adj" fmla="val 3346"/>
            </a:avLst>
          </a:prstGeom>
          <a:solidFill>
            <a:srgbClr val="FFF8F4"/>
          </a:solidFill>
          <a:ln w="9525">
            <a:solidFill>
              <a:srgbClr val="F2C7A8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1200150"/>
            <a:ext cx="10706100" cy="459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>
            <a:noAutofit/>
          </a:bodyPr>
          <a:lstStyle/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1. Dùng 5 bước để phân tích một quyết định ứng dụng AI trong trường học.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2. Mâu thuẫn chủ yếu của chuyển đổi số giáo dục là gì?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3. Thiết kế tiêu chí đánh giá tác động xã hội của một nền tảng số.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0" y="438150"/>
            <a:ext cx="914400" cy="914400"/>
          </a:xfrm>
          <a:prstGeom prst="ellipse">
            <a:avLst/>
          </a:prstGeom>
        </p:spPr>
      </p:pic>
      <p:sp>
        <p:nvSpPr>
          <p:cNvPr id="3" name="Rectangle 2"/>
          <p:cNvSpPr>
            <a:spLocks noGrp="1"/>
          </p:cNvSpPr>
          <p:nvPr/>
        </p:nvSpPr>
        <p:spPr>
          <a:xfrm>
            <a:off x="685800" y="68580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2100" b="1">
                <a:solidFill>
                  <a:srgbClr val="BFD6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FD6EA"/>
                </a:solidFill>
                <a:latin typeface="Aptos"/>
                <a:ea typeface="Aptos"/>
                <a:cs typeface="Aptos"/>
              </a:rPr>
              <a:t>CHƯƠNG 4</a:t>
            </a:r>
            <a:endParaRPr sz="2100" b="1">
              <a:solidFill>
                <a:srgbClr val="BFD6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714500"/>
            <a:ext cx="247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5400" b="1">
                <a:solidFill>
                  <a:srgbClr val="F58220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IV</a:t>
            </a:r>
            <a:endParaRPr sz="5400" b="1">
              <a:solidFill>
                <a:srgbClr val="F5822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2628900"/>
            <a:ext cx="9715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TÌNH HUỐNG VẬN DỤNG</a:t>
            </a:r>
            <a:endParaRPr sz="45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23900" y="4629150"/>
            <a:ext cx="990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l">
              <a:defRPr sz="3200" b="0">
                <a:solidFill>
                  <a:srgbClr val="D9E7F4"/>
                </a:solidFill>
                <a:latin typeface="Aptos"/>
                <a:ea typeface="Aptos"/>
                <a:cs typeface="Aptos"/>
              </a:defRPr>
            </a:pPr>
            <a:r>
              <a:rPr sz="3200" b="0">
                <a:solidFill>
                  <a:srgbClr val="D9E7F4"/>
                </a:solidFill>
                <a:latin typeface="Aptos"/>
                <a:ea typeface="Aptos"/>
                <a:cs typeface="Aptos"/>
              </a:rPr>
              <a:t>Học bằng vấn đề, thảo luận và sản phẩm có thể kiểm chứng.</a:t>
            </a:r>
            <a:endParaRPr sz="3200" b="0">
              <a:solidFill>
                <a:srgbClr val="D9E7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896600" y="6362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r">
              <a:defRPr sz="1200" b="0">
                <a:solidFill>
                  <a:srgbClr val="AFC7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7DA"/>
                </a:solidFill>
                <a:latin typeface="Aptos"/>
                <a:ea typeface="Aptos"/>
                <a:cs typeface="Aptos"/>
              </a:rPr>
              <a:t>27</a:t>
            </a:r>
            <a:endParaRPr sz="1200" b="0">
              <a:solidFill>
                <a:srgbClr val="AFC7D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Tình huống 1 – AI hỗ trợ học tập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28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Sinh viên dùng AI để lập dàn ý, tóm tắt và gợi ý tài liệu.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Rủi ro: nguồn giả, lệ thuộc, đạo văn, rò rỉ dữ liệu và mất năng lực tư duy.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Yêu cầu: quy trình kiểm chứng, nhật ký sử dụng và phản tư cá nhân.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Tình huống 2 – Dữ liệu trong quản trị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29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Một cơ quan muốn dự báo nhu cầu dịch vụ từ dữ liệu người dân.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Cần phân tích mục đích, chất lượng dữ liệu, thiên lệch và quyền riêng tư.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Giải pháp phải có giám sát con người, giải thích và cơ chế khiếu nại.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Tình huống 3 – Tương lai lao động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30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Tự động hóa thay đổi nhiệm vụ, nghề nghiệp và phân phối lợi ích.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Không chỉ đào tạo kỹ năng công cụ; cần năng lực thích ứng và an sinh.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Đặt phát triển con người, công bằng và việc làm có giá trị làm tiêu chuẩn.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Tình huống 4 – Đổi mới sáng tạo địa phương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31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0550" y="1066800"/>
            <a:ext cx="10953750" cy="501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Chọn vấn đề cụ thể của giáo dục, nông nghiệp, du lịch hoặc môi trường.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Kết nối trường đại học, doanh nghiệp, cơ quan quản lý và cộng đồng.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Thiết kế thử nghiệm nhỏ, dữ liệu đánh giá và lộ trình nhân rộng.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Khung năng lực đầu ra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32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667250" y="2781300"/>
            <a:ext cx="2857500" cy="1123950"/>
          </a:xfrm>
          <a:prstGeom prst="roundRect">
            <a:avLst>
              <a:gd name="adj" fmla="val 20339"/>
            </a:avLst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4781550" y="2876550"/>
            <a:ext cx="26289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HÀNH ĐỘNG CÓ CĂN CỨ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66750" y="11620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0B5EA8"/>
          </a:solidFill>
          <a:ln w="0">
            <a:solidFill>
              <a:srgbClr val="0B5EA8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62000" y="123825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Thế giới quan khoa học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3" name="Straight Arrow Connector 32"/>
          <p:cNvCxnSpPr>
            <a:stCxn id="8" idx="1"/>
            <a:endCxn id="10" idx="3"/>
          </p:cNvCxnSpPr>
          <p:nvPr/>
        </p:nvCxnSpPr>
        <p:spPr>
          <a:xfrm flipH="1" flipV="1">
            <a:off x="3619500" y="1733550"/>
            <a:ext cx="1047750" cy="16097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  <p:sp>
        <p:nvSpPr>
          <p:cNvPr id="13" name="Rounded Rectangle 12"/>
          <p:cNvSpPr>
            <a:spLocks noGrp="1"/>
          </p:cNvSpPr>
          <p:nvPr/>
        </p:nvSpPr>
        <p:spPr>
          <a:xfrm>
            <a:off x="8591550" y="116205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008C66"/>
          </a:solidFill>
          <a:ln w="0">
            <a:solidFill>
              <a:srgbClr val="008C66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686800" y="123825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Tư duy biện chứng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6" name="Straight Arrow Connector 35"/>
          <p:cNvCxnSpPr>
            <a:stCxn id="8" idx="3"/>
            <a:endCxn id="13" idx="1"/>
          </p:cNvCxnSpPr>
          <p:nvPr/>
        </p:nvCxnSpPr>
        <p:spPr>
          <a:xfrm flipV="1">
            <a:off x="7524750" y="1733550"/>
            <a:ext cx="1066800" cy="16097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  <p:sp>
        <p:nvSpPr>
          <p:cNvPr id="16" name="Rounded Rectangle 15"/>
          <p:cNvSpPr>
            <a:spLocks noGrp="1"/>
          </p:cNvSpPr>
          <p:nvPr/>
        </p:nvSpPr>
        <p:spPr>
          <a:xfrm>
            <a:off x="666750" y="453390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461010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Năng lực số – AI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39" name="Straight Arrow Connector 38"/>
          <p:cNvCxnSpPr>
            <a:stCxn id="8" idx="1"/>
            <a:endCxn id="16" idx="3"/>
          </p:cNvCxnSpPr>
          <p:nvPr/>
        </p:nvCxnSpPr>
        <p:spPr>
          <a:xfrm flipH="1">
            <a:off x="3619500" y="3343275"/>
            <a:ext cx="1047750" cy="17621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  <p:sp>
        <p:nvSpPr>
          <p:cNvPr id="19" name="Rounded Rectangle 18"/>
          <p:cNvSpPr>
            <a:spLocks noGrp="1"/>
          </p:cNvSpPr>
          <p:nvPr/>
        </p:nvSpPr>
        <p:spPr>
          <a:xfrm>
            <a:off x="8591550" y="4533900"/>
            <a:ext cx="2952750" cy="1143000"/>
          </a:xfrm>
          <a:prstGeom prst="roundRect">
            <a:avLst>
              <a:gd name="adj" fmla="val 15000"/>
            </a:avLst>
          </a:prstGeom>
          <a:solidFill>
            <a:srgbClr val="70439B"/>
          </a:solidFill>
          <a:ln w="0">
            <a:solidFill>
              <a:srgbClr val="70439B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686800" y="461010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Đạo đức và trách nhiệm</a:t>
            </a:r>
            <a:endParaRPr sz="25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42" name="Straight Arrow Connector 41"/>
          <p:cNvCxnSpPr>
            <a:stCxn id="8" idx="3"/>
            <a:endCxn id="19" idx="1"/>
          </p:cNvCxnSpPr>
          <p:nvPr/>
        </p:nvCxnSpPr>
        <p:spPr>
          <a:xfrm>
            <a:off x="7524750" y="3343275"/>
            <a:ext cx="1066800" cy="1762125"/>
          </a:xfrm>
          <a:prstGeom prst="straightConnector1">
            <a:avLst/>
          </a:prstGeom>
          <a:ln w="19050">
            <a:solidFill>
              <a:srgbClr val="5E86AA"/>
            </a:solidFill>
            <a:prstDash val="soli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B6242F"/>
          </a:solidFill>
          <a:ln w="0">
            <a:solidFill>
              <a:srgbClr val="B6242F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Ôn tập Chương 4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33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76250" y="952500"/>
            <a:ext cx="11239500" cy="5124450"/>
          </a:xfrm>
          <a:prstGeom prst="roundRect">
            <a:avLst>
              <a:gd name="adj" fmla="val 3346"/>
            </a:avLst>
          </a:prstGeom>
          <a:solidFill>
            <a:srgbClr val="FFF8F4"/>
          </a:solidFill>
          <a:ln w="9525">
            <a:solidFill>
              <a:srgbClr val="F2C7A8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1200150"/>
            <a:ext cx="10706100" cy="459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>
            <a:noAutofit/>
          </a:bodyPr>
          <a:lstStyle/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1. Làm rõ yêu cầu kế thừa và phát triển sáng tạo triết học Mác – Lênin.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2. Phân tích vai trò phương pháp luận trong Nghị quyết 57 và chuyển đổi số.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3. Xây dựng quy trình giải quyết một vấn đề đổi mới sáng tạo.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15"/>
              </a:spcAft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4. Đề xuất nguyên tắc đạo đức khi dùng AI trong nghề dạy học.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0" y="647700"/>
            <a:ext cx="12192000" cy="57150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323850" y="47625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Sản phẩm học tập cuối học phần</a:t>
            </a:r>
            <a:endParaRPr sz="28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0" y="76200"/>
            <a:ext cx="495300" cy="495300"/>
          </a:xfrm>
          <a:prstGeom prst="ellipse">
            <a:avLst/>
          </a:prstGeom>
        </p:spPr>
      </p:pic>
      <p:sp>
        <p:nvSpPr>
          <p:cNvPr id="5" name="Rectangle 4"/>
          <p:cNvSpPr>
            <a:spLocks noGrp="1"/>
          </p:cNvSpPr>
          <p:nvPr/>
        </p:nvSpPr>
        <p:spPr>
          <a:xfrm>
            <a:off x="304800" y="6486525"/>
            <a:ext cx="11582400" cy="19050"/>
          </a:xfrm>
          <a:prstGeom prst="rect">
            <a:avLst/>
          </a:prstGeom>
          <a:solidFill>
            <a:srgbClr val="C9D6E4"/>
          </a:solidFill>
          <a:ln w="0">
            <a:solidFill>
              <a:srgbClr val="C9D6E4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23850" y="65246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Triết học Mác – Lênin • Chương 4 • PGS.TS Đoàn Thế Hùng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087100" y="65246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defRPr sz="1200" b="0">
                <a:solidFill>
                  <a:srgbClr val="60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086"/>
                </a:solidFill>
                <a:latin typeface="Aptos"/>
                <a:ea typeface="Aptos"/>
                <a:cs typeface="Aptos"/>
              </a:rPr>
              <a:t>34</a:t>
            </a:r>
            <a:endParaRPr sz="1200" b="0">
              <a:solidFill>
                <a:srgbClr val="60708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95300" y="914400"/>
            <a:ext cx="11201400" cy="914400"/>
          </a:xfrm>
          <a:prstGeom prst="roundRect">
            <a:avLst>
              <a:gd name="adj" fmla="val 14583"/>
            </a:avLst>
          </a:prstGeom>
          <a:solidFill>
            <a:srgbClr val="EAF3FB"/>
          </a:solidFill>
          <a:ln w="9525">
            <a:solidFill>
              <a:srgbClr val="AFCBE4"/>
            </a:solidFill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3200" b="1">
                <a:solidFill>
                  <a:srgbClr val="063764"/>
                </a:solidFill>
                <a:latin typeface="Aptos"/>
                <a:ea typeface="Aptos"/>
                <a:cs typeface="Aptos"/>
              </a:defRPr>
            </a:pPr>
            <a:r>
              <a:rPr sz="3200" b="1">
                <a:solidFill>
                  <a:srgbClr val="063764"/>
                </a:solidFill>
                <a:latin typeface="Aptos"/>
                <a:ea typeface="Aptos"/>
                <a:cs typeface="Aptos"/>
              </a:rPr>
              <a:t>Hồ sơ dự án: một vấn đề thực tiễn được phân tích và đề xuất giải pháp.</a:t>
            </a:r>
            <a:endParaRPr sz="3200" b="1">
              <a:solidFill>
                <a:srgbClr val="0637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590550" y="2057400"/>
            <a:ext cx="10953750" cy="403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76200" rIns="76200" bIns="38100">
            <a:noAutofit/>
          </a:bodyPr>
          <a:lstStyle/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Bản đồ hệ thống và mâu thuẫn; dữ liệu và nguồn đã kiểm chứng.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Giải pháp, thử nghiệm, tiêu chí tác động và phân công trách nhiệm.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  <a:p>
            <a:pPr marL="0" indent="0">
              <a:spcAft>
                <a:spcPts val="10"/>
              </a:spcAft>
              <a:buChar char="•"/>
              <a:defRPr sz="320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3200">
                <a:solidFill>
                  <a:srgbClr val="17243A"/>
                </a:solidFill>
                <a:latin typeface="Aptos"/>
                <a:ea typeface="Aptos"/>
                <a:cs typeface="Aptos"/>
              </a:rPr>
              <a:t>Phụ lục minh bạch việc dùng AI và phản tư của từng thành viên.</a:t>
            </a:r>
            <a:endParaRPr sz="320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63764"/>
          </a:solidFill>
          <a:ln w="0">
            <a:solidFill>
              <a:srgbClr val="063764"/>
            </a:solidFill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419100" y="952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KẾT THÚC CHƯƠNG 4</a:t>
            </a:r>
            <a:endParaRPr sz="3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0" y="95250"/>
            <a:ext cx="571500" cy="571500"/>
          </a:xfrm>
          <a:prstGeom prst="ellipse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l="11111" r="11111"/>
          <a:stretch>
            <a:fillRect/>
          </a:stretch>
        </p:blipFill>
        <p:spPr>
          <a:xfrm>
            <a:off x="514350" y="1143000"/>
            <a:ext cx="2667000" cy="3429000"/>
          </a:xfrm>
          <a:prstGeom prst="roundRect">
            <a:avLst>
              <a:gd name="adj" fmla="val 6429"/>
            </a:avLst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l="11111" r="11111"/>
          <a:stretch>
            <a:fillRect/>
          </a:stretch>
        </p:blipFill>
        <p:spPr>
          <a:xfrm>
            <a:off x="3429000" y="1143000"/>
            <a:ext cx="2667000" cy="3429000"/>
          </a:xfrm>
          <a:prstGeom prst="roundRect">
            <a:avLst>
              <a:gd name="adj" fmla="val 6429"/>
            </a:avLst>
          </a:prstGeom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6667500" y="13525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3450" b="1">
                <a:solidFill>
                  <a:srgbClr val="063764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63764"/>
                </a:solidFill>
                <a:latin typeface="Aptos"/>
                <a:ea typeface="Aptos"/>
                <a:cs typeface="Aptos"/>
              </a:rPr>
              <a:t>ĐỔI MỚI TƯ DUY – LÀM CHỦ CÔNG NGHỆ – PHỤNG SỰ CON NGƯỜI</a:t>
            </a:r>
            <a:endParaRPr sz="3450" b="1">
              <a:solidFill>
                <a:srgbClr val="0637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762750" y="3790950"/>
            <a:ext cx="4572000" cy="1238250"/>
          </a:xfrm>
          <a:prstGeom prst="roundRect">
            <a:avLst>
              <a:gd name="adj" fmla="val 10769"/>
            </a:avLst>
          </a:prstGeom>
          <a:solidFill>
            <a:srgbClr val="EAF3FB"/>
          </a:solidFill>
          <a:ln w="9525">
            <a:solidFill>
              <a:srgbClr val="AFCAE4"/>
            </a:solidFill>
            <a:prstDash val="solid"/>
          </a:ln>
        </p:spPr>
        <p:txBody>
          <a:bodyPr lIns="76200" tIns="57150" rIns="76200" bIns="38100" anchor="ctr">
            <a:noAutofit/>
          </a:bodyPr>
          <a:lstStyle/>
          <a:p>
            <a:pPr algn="ctr">
              <a:defRPr sz="2400" b="0">
                <a:solidFill>
                  <a:srgbClr val="17243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7243A"/>
                </a:solidFill>
                <a:latin typeface="Aptos"/>
                <a:ea typeface="Aptos"/>
                <a:cs typeface="Aptos"/>
              </a:rPr>
              <a:t>Hoàn thiện hồ sơ học tập 4 chương và chuẩn bị thuyết trình đối thoại.</a:t>
            </a:r>
            <a:endParaRPr sz="2400" b="0">
              <a:solidFill>
                <a:srgbClr val="17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76300" y="5715000"/>
            <a:ext cx="10439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57150" rIns="76200" bIns="38100" anchor="t">
            <a:noAutofit/>
          </a:bodyPr>
          <a:lstStyle/>
          <a:p>
            <a:pPr algn="ctr">
              <a:defRPr sz="2175" b="1">
                <a:solidFill>
                  <a:srgbClr val="06376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63764"/>
                </a:solidFill>
                <a:latin typeface="Aptos"/>
                <a:ea typeface="Aptos"/>
                <a:cs typeface="Aptos"/>
              </a:rPr>
              <a:t>PGS.TS ĐOÀN THẾ HÙNG • TRƯỜNG ĐẠI HỌC QUY NHƠN</a:t>
            </a:r>
            <a:endParaRPr sz="2175" b="1">
              <a:solidFill>
                <a:srgbClr val="063764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9247</Words>
  <Application>WPS Presentation</Application>
  <PresentationFormat>Converted Presentation</PresentationFormat>
  <Paragraphs>369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QNU</cp:lastModifiedBy>
  <cp:revision>1</cp:revision>
  <dcterms:created xsi:type="dcterms:W3CDTF">2026-09-04T01:59:34Z</dcterms:created>
  <dcterms:modified xsi:type="dcterms:W3CDTF">2026-09-04T01:59:34Z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E608F23475FD444DA809C7259FECD77D_13</vt:lpwstr>
  </property>
  <property fmtid="{D5CDD505-2E9C-101B-9397-08002B2CF9AE}" pid="3" name="KSOProductBuildVer">
    <vt:lpwstr>1033-12.1.0.28485</vt:lpwstr>
  </property>
</Properties>
</file>